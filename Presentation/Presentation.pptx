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05"/>
          <c:y val="0.005"/>
          <c:w val="0.99"/>
          <c:h val="0.9875"/>
        </c:manualLayout>
      </c:layout>
      <c:pieChart>
        <c:varyColors val="0"/>
        <c:ser>
          <c:idx val="0"/>
          <c:order val="0"/>
          <c:tx>
            <c:strRef>
              <c:f>Sheet1!$A$2</c:f>
              <c:strCache>
                <c:ptCount val="1"/>
                <c:pt idx="0">
                  <c:v>Nisan</c:v>
                </c:pt>
              </c:strCache>
            </c:strRef>
          </c:tx>
          <c:spPr>
            <a:solidFill>
              <a:srgbClr val="B9898A"/>
            </a:solidFill>
            <a:ln w="12700" cap="flat">
              <a:noFill/>
              <a:miter lim="400000"/>
            </a:ln>
            <a:effectLst/>
          </c:spPr>
          <c:explosion val="0"/>
          <c:dPt>
            <c:idx val="0"/>
            <c:explosion val="0"/>
            <c:spPr>
              <a:solidFill>
                <a:srgbClr val="B9898A"/>
              </a:solidFill>
              <a:ln w="12700" cap="flat">
                <a:noFill/>
                <a:miter lim="400000"/>
              </a:ln>
              <a:effectLst/>
            </c:spPr>
          </c:dPt>
          <c:dPt>
            <c:idx val="1"/>
            <c:explosion val="0"/>
            <c:spPr>
              <a:solidFill>
                <a:schemeClr val="accent5">
                  <a:satOff val="17500"/>
                  <a:lumOff val="10202"/>
                </a:schemeClr>
              </a:solidFill>
              <a:ln w="12700" cap="flat">
                <a:noFill/>
                <a:miter lim="400000"/>
              </a:ln>
              <a:effectLst/>
            </c:spPr>
          </c:dPt>
          <c:dLbls>
            <c:dLbl>
              <c:idx val="0"/>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dLbl>
              <c:idx val="1"/>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showLeaderLines val="1"/>
            <c:leaderLines>
              <c:spPr>
                <a:noFill/>
                <a:ln w="6350" cap="flat">
                  <a:solidFill>
                    <a:srgbClr val="000000"/>
                  </a:solidFill>
                  <a:prstDash val="solid"/>
                  <a:miter lim="400000"/>
                </a:ln>
                <a:effectLst/>
              </c:spPr>
            </c:leaderLines>
          </c:dLbls>
          <c:cat>
            <c:strRef>
              <c:f>Sheet1!$B$1:$B$1</c:f>
              <c:strCache>
                <c:ptCount val="2"/>
                <c:pt idx="0">
                  <c:v>Bölge 1</c:v>
                </c:pt>
                <c:pt idx="1">
                  <c:v>Bölge </c:v>
                </c:pt>
              </c:strCache>
            </c:strRef>
          </c:cat>
          <c:val>
            <c:numRef>
              <c:f>Sheet1!$B$2:$C$2</c:f>
              <c:numCache>
                <c:ptCount val="2"/>
                <c:pt idx="0">
                  <c:v>58.000000</c:v>
                </c:pt>
                <c:pt idx="1">
                  <c:v>42.000000</c:v>
                </c:pt>
              </c:numCache>
            </c:numRef>
          </c:val>
        </c:ser>
        <c:ser>
          <c:idx val="0"/>
          <c:order val="1"/>
          <c:tx>
            <c:strRef>
              <c:f>Sheet1!$A$3</c:f>
              <c:strCache>
                <c:ptCount val="1"/>
                <c:pt idx="1">
                  <c:v>Mayıs</c:v>
                </c:pt>
              </c:strCache>
            </c:strRef>
          </c:tx>
          <c:spPr>
            <a:solidFill>
              <a:srgbClr val="B9898A"/>
            </a:solidFill>
            <a:ln w="12700" cap="flat">
              <a:noFill/>
              <a:miter lim="400000"/>
            </a:ln>
            <a:effectLst/>
          </c:spPr>
          <c:explosion val="0"/>
          <c:dPt>
            <c:idx val="0"/>
            <c:explosion val="0"/>
            <c:spPr>
              <a:solidFill>
                <a:srgbClr val="B9898A"/>
              </a:solidFill>
              <a:ln w="12700" cap="flat">
                <a:noFill/>
                <a:miter lim="400000"/>
              </a:ln>
              <a:effectLst/>
            </c:spPr>
          </c:dPt>
          <c:dPt>
            <c:idx val="1"/>
            <c:explosion val="0"/>
            <c:spPr>
              <a:solidFill>
                <a:schemeClr val="accent5">
                  <a:satOff val="17500"/>
                  <a:lumOff val="10202"/>
                </a:schemeClr>
              </a:solidFill>
              <a:ln w="12700" cap="flat">
                <a:noFill/>
                <a:miter lim="400000"/>
              </a:ln>
              <a:effectLst/>
            </c:spPr>
          </c:dPt>
          <c:dLbls>
            <c:dLbl>
              <c:idx val="0"/>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dLbl>
              <c:idx val="1"/>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showLeaderLines val="1"/>
            <c:leaderLines>
              <c:spPr>
                <a:noFill/>
                <a:ln w="6350" cap="flat">
                  <a:solidFill>
                    <a:srgbClr val="000000"/>
                  </a:solidFill>
                  <a:prstDash val="solid"/>
                  <a:miter lim="400000"/>
                </a:ln>
                <a:effectLst/>
              </c:spPr>
            </c:leaderLines>
          </c:dLbls>
          <c:cat>
            <c:strRef>
              <c:f>Sheet1!$B$1:$B$1</c:f>
              <c:strCache>
                <c:ptCount val="2"/>
                <c:pt idx="0">
                  <c:v>Bölge 1</c:v>
                </c:pt>
                <c:pt idx="1">
                  <c:v>Bölge </c:v>
                </c:pt>
              </c:strCache>
            </c:strRef>
          </c:cat>
          <c:val>
            <c:numRef>
              <c:f>Sheet1!$B$3:$A$3</c:f>
              <c:numCache>
                <c:ptCount val="0"/>
              </c:numCache>
            </c:numRef>
          </c:val>
        </c:ser>
        <c:ser>
          <c:idx val="0"/>
          <c:order val="2"/>
          <c:tx>
            <c:strRef>
              <c:f>Sheet1!$A$4</c:f>
              <c:strCache>
                <c:ptCount val="1"/>
                <c:pt idx="2">
                  <c:v>Haziran</c:v>
                </c:pt>
              </c:strCache>
            </c:strRef>
          </c:tx>
          <c:spPr>
            <a:solidFill>
              <a:srgbClr val="B9898A"/>
            </a:solidFill>
            <a:ln w="12700" cap="flat">
              <a:noFill/>
              <a:miter lim="400000"/>
            </a:ln>
            <a:effectLst/>
          </c:spPr>
          <c:explosion val="0"/>
          <c:dPt>
            <c:idx val="0"/>
            <c:explosion val="0"/>
            <c:spPr>
              <a:solidFill>
                <a:srgbClr val="B9898A"/>
              </a:solidFill>
              <a:ln w="12700" cap="flat">
                <a:noFill/>
                <a:miter lim="400000"/>
              </a:ln>
              <a:effectLst/>
            </c:spPr>
          </c:dPt>
          <c:dPt>
            <c:idx val="1"/>
            <c:explosion val="0"/>
            <c:spPr>
              <a:solidFill>
                <a:schemeClr val="accent5">
                  <a:satOff val="17500"/>
                  <a:lumOff val="10202"/>
                </a:schemeClr>
              </a:solidFill>
              <a:ln w="12700" cap="flat">
                <a:noFill/>
                <a:miter lim="400000"/>
              </a:ln>
              <a:effectLst/>
            </c:spPr>
          </c:dPt>
          <c:dLbls>
            <c:dLbl>
              <c:idx val="0"/>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dLbl>
              <c:idx val="1"/>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showLeaderLines val="1"/>
            <c:leaderLines>
              <c:spPr>
                <a:noFill/>
                <a:ln w="6350" cap="flat">
                  <a:solidFill>
                    <a:srgbClr val="000000"/>
                  </a:solidFill>
                  <a:prstDash val="solid"/>
                  <a:miter lim="400000"/>
                </a:ln>
                <a:effectLst/>
              </c:spPr>
            </c:leaderLines>
          </c:dLbls>
          <c:cat>
            <c:strRef>
              <c:f>Sheet1!$B$1:$B$1</c:f>
              <c:strCache>
                <c:ptCount val="2"/>
                <c:pt idx="0">
                  <c:v>Bölge 1</c:v>
                </c:pt>
                <c:pt idx="1">
                  <c:v>Bölge </c:v>
                </c:pt>
              </c:strCache>
            </c:strRef>
          </c:cat>
          <c:val>
            <c:numRef>
              <c:f>Sheet1!$B$4:$A$4</c:f>
              <c:numCache>
                <c:ptCount val="0"/>
              </c:numCache>
            </c:numRef>
          </c:val>
        </c:ser>
        <c:ser>
          <c:idx val="0"/>
          <c:order val="3"/>
          <c:tx>
            <c:strRef>
              <c:f>Sheet1!$A$5</c:f>
              <c:strCache>
                <c:ptCount val="1"/>
                <c:pt idx="3">
                  <c:v>Temmuz</c:v>
                </c:pt>
              </c:strCache>
            </c:strRef>
          </c:tx>
          <c:spPr>
            <a:solidFill>
              <a:srgbClr val="B9898A"/>
            </a:solidFill>
            <a:ln w="12700" cap="flat">
              <a:noFill/>
              <a:miter lim="400000"/>
            </a:ln>
            <a:effectLst/>
          </c:spPr>
          <c:explosion val="0"/>
          <c:dPt>
            <c:idx val="0"/>
            <c:explosion val="0"/>
            <c:spPr>
              <a:solidFill>
                <a:srgbClr val="B9898A"/>
              </a:solidFill>
              <a:ln w="12700" cap="flat">
                <a:noFill/>
                <a:miter lim="400000"/>
              </a:ln>
              <a:effectLst/>
            </c:spPr>
          </c:dPt>
          <c:dPt>
            <c:idx val="1"/>
            <c:explosion val="0"/>
            <c:spPr>
              <a:solidFill>
                <a:schemeClr val="accent5">
                  <a:satOff val="17500"/>
                  <a:lumOff val="10202"/>
                </a:schemeClr>
              </a:solidFill>
              <a:ln w="12700" cap="flat">
                <a:noFill/>
                <a:miter lim="400000"/>
              </a:ln>
              <a:effectLst/>
            </c:spPr>
          </c:dPt>
          <c:dLbls>
            <c:dLbl>
              <c:idx val="0"/>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dLbl>
              <c:idx val="1"/>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showLeaderLines val="1"/>
            <c:leaderLines>
              <c:spPr>
                <a:noFill/>
                <a:ln w="6350" cap="flat">
                  <a:solidFill>
                    <a:srgbClr val="000000"/>
                  </a:solidFill>
                  <a:prstDash val="solid"/>
                  <a:miter lim="400000"/>
                </a:ln>
                <a:effectLst/>
              </c:spPr>
            </c:leaderLines>
          </c:dLbls>
          <c:cat>
            <c:strRef>
              <c:f>Sheet1!$B$1:$B$1</c:f>
              <c:strCache>
                <c:ptCount val="2"/>
                <c:pt idx="0">
                  <c:v>Bölge 1</c:v>
                </c:pt>
                <c:pt idx="1">
                  <c:v>Bölge </c:v>
                </c:pt>
              </c:strCache>
            </c:strRef>
          </c:cat>
          <c:val>
            <c:numRef>
              <c:f>Sheet1!$B$5:$A$5</c:f>
              <c:numCache>
                <c:ptCount val="0"/>
              </c:numCache>
            </c:numRef>
          </c:val>
        </c:ser>
        <c:ser>
          <c:idx val="0"/>
          <c:order val="4"/>
          <c:tx>
            <c:strRef>
              <c:f>Sheet1!$A$6</c:f>
              <c:strCache>
                <c:ptCount val="1"/>
                <c:pt idx="4">
                  <c:v>Ağustos</c:v>
                </c:pt>
              </c:strCache>
            </c:strRef>
          </c:tx>
          <c:spPr>
            <a:solidFill>
              <a:srgbClr val="B9898A"/>
            </a:solidFill>
            <a:ln w="12700" cap="flat">
              <a:noFill/>
              <a:miter lim="400000"/>
            </a:ln>
            <a:effectLst/>
          </c:spPr>
          <c:explosion val="0"/>
          <c:dPt>
            <c:idx val="0"/>
            <c:explosion val="0"/>
            <c:spPr>
              <a:solidFill>
                <a:srgbClr val="B9898A"/>
              </a:solidFill>
              <a:ln w="12700" cap="flat">
                <a:noFill/>
                <a:miter lim="400000"/>
              </a:ln>
              <a:effectLst/>
            </c:spPr>
          </c:dPt>
          <c:dPt>
            <c:idx val="1"/>
            <c:explosion val="0"/>
            <c:spPr>
              <a:solidFill>
                <a:schemeClr val="accent5">
                  <a:satOff val="17500"/>
                  <a:lumOff val="10202"/>
                </a:schemeClr>
              </a:solidFill>
              <a:ln w="12700" cap="flat">
                <a:noFill/>
                <a:miter lim="400000"/>
              </a:ln>
              <a:effectLst/>
            </c:spPr>
          </c:dPt>
          <c:dLbls>
            <c:dLbl>
              <c:idx val="0"/>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dLbl>
              <c:idx val="1"/>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showLeaderLines val="1"/>
            <c:leaderLines>
              <c:spPr>
                <a:noFill/>
                <a:ln w="6350" cap="flat">
                  <a:solidFill>
                    <a:srgbClr val="000000"/>
                  </a:solidFill>
                  <a:prstDash val="solid"/>
                  <a:miter lim="400000"/>
                </a:ln>
                <a:effectLst/>
              </c:spPr>
            </c:leaderLines>
          </c:dLbls>
          <c:cat>
            <c:strRef>
              <c:f>Sheet1!$B$1:$B$1</c:f>
              <c:strCache>
                <c:ptCount val="2"/>
                <c:pt idx="0">
                  <c:v>Bölge 1</c:v>
                </c:pt>
                <c:pt idx="1">
                  <c:v>Bölge </c:v>
                </c:pt>
              </c:strCache>
            </c:strRef>
          </c:cat>
          <c:val>
            <c:numRef>
              <c:f>Sheet1!$B$6:$B$6</c:f>
              <c:numCache>
                <c:ptCount val="1"/>
                <c:pt idx="0">
                  <c:v>21.000000</c:v>
                </c:pt>
              </c:numCache>
            </c:numRef>
          </c:val>
        </c:ser>
        <c:ser>
          <c:idx val="0"/>
          <c:order val="5"/>
          <c:tx>
            <c:strRef>
              <c:f>Sheet1!$A$7</c:f>
              <c:strCache>
                <c:ptCount val="1"/>
                <c:pt idx="5">
                  <c:v>Eylül</c:v>
                </c:pt>
              </c:strCache>
            </c:strRef>
          </c:tx>
          <c:spPr>
            <a:solidFill>
              <a:srgbClr val="B9898A"/>
            </a:solidFill>
            <a:ln w="12700" cap="flat">
              <a:noFill/>
              <a:miter lim="400000"/>
            </a:ln>
            <a:effectLst/>
          </c:spPr>
          <c:explosion val="0"/>
          <c:dPt>
            <c:idx val="0"/>
            <c:explosion val="0"/>
            <c:spPr>
              <a:solidFill>
                <a:srgbClr val="B9898A"/>
              </a:solidFill>
              <a:ln w="12700" cap="flat">
                <a:noFill/>
                <a:miter lim="400000"/>
              </a:ln>
              <a:effectLst/>
            </c:spPr>
          </c:dPt>
          <c:dPt>
            <c:idx val="1"/>
            <c:explosion val="0"/>
            <c:spPr>
              <a:solidFill>
                <a:schemeClr val="accent5">
                  <a:satOff val="17500"/>
                  <a:lumOff val="10202"/>
                </a:schemeClr>
              </a:solidFill>
              <a:ln w="12700" cap="flat">
                <a:noFill/>
                <a:miter lim="400000"/>
              </a:ln>
              <a:effectLst/>
            </c:spPr>
          </c:dPt>
          <c:dLbls>
            <c:dLbl>
              <c:idx val="0"/>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dLbl>
              <c:idx val="1"/>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dLbl>
            <c:numFmt formatCode="#,##0%" sourceLinked="0"/>
            <c:txPr>
              <a:bodyPr/>
              <a:lstStyle/>
              <a:p>
                <a:pPr>
                  <a:defRPr b="0" i="0" strike="noStrike" sz="5000" u="none">
                    <a:solidFill>
                      <a:srgbClr val="000000"/>
                    </a:solidFill>
                    <a:latin typeface="Graphik"/>
                  </a:defRPr>
                </a:pPr>
              </a:p>
            </c:txPr>
            <c:dLblPos val="ctr"/>
            <c:showLegendKey val="0"/>
            <c:showVal val="0"/>
            <c:showCatName val="0"/>
            <c:showSerName val="0"/>
            <c:showPercent val="1"/>
            <c:showBubbleSize val="0"/>
            <c:showLeaderLines val="1"/>
            <c:leaderLines>
              <c:spPr>
                <a:noFill/>
                <a:ln w="6350" cap="flat">
                  <a:solidFill>
                    <a:srgbClr val="000000"/>
                  </a:solidFill>
                  <a:prstDash val="solid"/>
                  <a:miter lim="400000"/>
                </a:ln>
                <a:effectLst/>
              </c:spPr>
            </c:leaderLines>
          </c:dLbls>
          <c:cat>
            <c:strRef>
              <c:f>Sheet1!$B$1:$B$1</c:f>
              <c:strCache>
                <c:ptCount val="2"/>
                <c:pt idx="0">
                  <c:v>Bölge 1</c:v>
                </c:pt>
                <c:pt idx="1">
                  <c:v>Bölge </c:v>
                </c:pt>
              </c:strCache>
            </c:strRef>
          </c:cat>
          <c:val>
            <c:numRef>
              <c:f>Sheet1!$B$7:$B$7</c:f>
              <c:numCache>
                <c:ptCount val="1"/>
                <c:pt idx="0">
                  <c:v>18.000000</c:v>
                </c:pt>
              </c:numCache>
            </c:numRef>
          </c:val>
        </c:ser>
        <c:firstSliceAng val="0"/>
      </c:pieChart>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Başlı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Yazar ve Tarih"/>
          <p:cNvSpPr txBox="1"/>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Yazar ve Tarih</a:t>
            </a:r>
          </a:p>
        </p:txBody>
      </p:sp>
      <p:sp>
        <p:nvSpPr>
          <p:cNvPr id="12" name="Gövde Düzeyi Bir…"/>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Sunu Alt Başlığı</a:t>
            </a:r>
          </a:p>
          <a:p>
            <a:pPr lvl="1"/>
            <a:r>
              <a:t/>
            </a:r>
          </a:p>
          <a:p>
            <a:pPr lvl="2"/>
            <a:r>
              <a:t/>
            </a:r>
          </a:p>
          <a:p>
            <a:pPr lvl="3"/>
            <a:r>
              <a:t/>
            </a:r>
          </a:p>
          <a:p>
            <a:pPr lvl="4"/>
            <a:r>
              <a:t/>
            </a:r>
          </a:p>
        </p:txBody>
      </p:sp>
      <p:sp>
        <p:nvSpPr>
          <p:cNvPr id="13" name="Sunu Başlığı"/>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Sunu Başlığı</a:t>
            </a:r>
          </a:p>
        </p:txBody>
      </p:sp>
      <p:sp>
        <p:nvSpPr>
          <p:cNvPr id="14" name="Slayt Numarası"/>
          <p:cNvSpPr txBox="1"/>
          <p:nvPr>
            <p:ph type="sldNum" sz="quarter" idx="2"/>
          </p:nvPr>
        </p:nvSpPr>
        <p:spPr>
          <a:xfrm>
            <a:off x="23558499" y="1246072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aşlık ve Fotoğraf">
    <p:bg>
      <p:bgPr>
        <a:solidFill>
          <a:srgbClr val="FFFFFF"/>
        </a:solidFill>
      </p:bgPr>
    </p:bg>
    <p:spTree>
      <p:nvGrpSpPr>
        <p:cNvPr id="1" name=""/>
        <p:cNvGrpSpPr/>
        <p:nvPr/>
      </p:nvGrpSpPr>
      <p:grpSpPr>
        <a:xfrm>
          <a:off x="0" y="0"/>
          <a:ext cx="0" cy="0"/>
          <a:chOff x="0" y="0"/>
          <a:chExt cx="0" cy="0"/>
        </a:xfrm>
      </p:grpSpPr>
      <p:sp>
        <p:nvSpPr>
          <p:cNvPr id="21" name="Gri, yansıtıcı bir zeminde kavisli, beyaz yaylar"/>
          <p:cNvSpPr/>
          <p:nvPr>
            <p:ph type="pic" idx="21"/>
          </p:nvPr>
        </p:nvSpPr>
        <p:spPr>
          <a:xfrm>
            <a:off x="-76200" y="-558800"/>
            <a:ext cx="24574500" cy="14839510"/>
          </a:xfrm>
          <a:prstGeom prst="rect">
            <a:avLst/>
          </a:prstGeom>
        </p:spPr>
        <p:txBody>
          <a:bodyPr lIns="91439" tIns="45719" rIns="91439" bIns="45719">
            <a:noAutofit/>
          </a:bodyPr>
          <a:lstStyle/>
          <a:p>
            <a:pPr/>
          </a:p>
        </p:txBody>
      </p:sp>
      <p:sp>
        <p:nvSpPr>
          <p:cNvPr id="22" name="Yazar ve Tarih"/>
          <p:cNvSpPr txBox="1"/>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Yazar ve Tarih</a:t>
            </a:r>
          </a:p>
        </p:txBody>
      </p:sp>
      <p:sp>
        <p:nvSpPr>
          <p:cNvPr id="23" name="Gövde Düzeyi Bir…"/>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Sunu Alt Başlığı</a:t>
            </a:r>
          </a:p>
          <a:p>
            <a:pPr lvl="1"/>
            <a:r>
              <a:t/>
            </a:r>
          </a:p>
          <a:p>
            <a:pPr lvl="2"/>
            <a:r>
              <a:t/>
            </a:r>
          </a:p>
          <a:p>
            <a:pPr lvl="3"/>
            <a:r>
              <a:t/>
            </a:r>
          </a:p>
          <a:p>
            <a:pPr lvl="4"/>
            <a:r>
              <a:t/>
            </a:r>
          </a:p>
        </p:txBody>
      </p:sp>
      <p:sp>
        <p:nvSpPr>
          <p:cNvPr id="24" name="Sunu Başlığı"/>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Sunu Başlığı</a:t>
            </a:r>
          </a:p>
        </p:txBody>
      </p:sp>
      <p:sp>
        <p:nvSpPr>
          <p:cNvPr id="25"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lternatif Başlık ve Fotoğraf">
    <p:spTree>
      <p:nvGrpSpPr>
        <p:cNvPr id="1" name=""/>
        <p:cNvGrpSpPr/>
        <p:nvPr/>
      </p:nvGrpSpPr>
      <p:grpSpPr>
        <a:xfrm>
          <a:off x="0" y="0"/>
          <a:ext cx="0" cy="0"/>
          <a:chOff x="0" y="0"/>
          <a:chExt cx="0" cy="0"/>
        </a:xfrm>
      </p:grpSpPr>
      <p:sp>
        <p:nvSpPr>
          <p:cNvPr id="32" name="Aynalı cam pencereleri olan uzun bir binanın alttan çekim açısından görünümü"/>
          <p:cNvSpPr/>
          <p:nvPr>
            <p:ph type="pic" idx="21"/>
          </p:nvPr>
        </p:nvSpPr>
        <p:spPr>
          <a:xfrm>
            <a:off x="8140700" y="-1"/>
            <a:ext cx="20574000" cy="13716001"/>
          </a:xfrm>
          <a:prstGeom prst="rect">
            <a:avLst/>
          </a:prstGeom>
        </p:spPr>
        <p:txBody>
          <a:bodyPr lIns="91439" tIns="45719" rIns="91439" bIns="45719">
            <a:noAutofit/>
          </a:bodyPr>
          <a:lstStyle/>
          <a:p>
            <a:pPr/>
          </a:p>
        </p:txBody>
      </p:sp>
      <p:sp>
        <p:nvSpPr>
          <p:cNvPr id="33" name="Slayt Başlığı"/>
          <p:cNvSpPr txBox="1"/>
          <p:nvPr>
            <p:ph type="title" hasCustomPrompt="1"/>
          </p:nvPr>
        </p:nvSpPr>
        <p:spPr>
          <a:xfrm>
            <a:off x="1206500" y="1333500"/>
            <a:ext cx="9779000" cy="5882273"/>
          </a:xfrm>
          <a:prstGeom prst="rect">
            <a:avLst/>
          </a:prstGeom>
        </p:spPr>
        <p:txBody>
          <a:bodyPr anchor="b"/>
          <a:lstStyle/>
          <a:p>
            <a:pPr/>
            <a:r>
              <a:t>Slayt Başlığı</a:t>
            </a:r>
          </a:p>
        </p:txBody>
      </p:sp>
      <p:sp>
        <p:nvSpPr>
          <p:cNvPr id="34" name="Gövde Düzeyi Bir…"/>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Slayt Alt Başlığı</a:t>
            </a:r>
          </a:p>
          <a:p>
            <a:pPr lvl="1"/>
            <a:r>
              <a:t/>
            </a:r>
          </a:p>
          <a:p>
            <a:pPr lvl="2"/>
            <a:r>
              <a:t/>
            </a:r>
          </a:p>
          <a:p>
            <a:pPr lvl="3"/>
            <a:r>
              <a:t/>
            </a:r>
          </a:p>
          <a:p>
            <a:pPr lvl="4"/>
            <a:r>
              <a:t/>
            </a:r>
          </a:p>
        </p:txBody>
      </p:sp>
      <p:sp>
        <p:nvSpPr>
          <p:cNvPr id="35"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aşlık ve Madde İşaretleri">
    <p:spTree>
      <p:nvGrpSpPr>
        <p:cNvPr id="1" name=""/>
        <p:cNvGrpSpPr/>
        <p:nvPr/>
      </p:nvGrpSpPr>
      <p:grpSpPr>
        <a:xfrm>
          <a:off x="0" y="0"/>
          <a:ext cx="0" cy="0"/>
          <a:chOff x="0" y="0"/>
          <a:chExt cx="0" cy="0"/>
        </a:xfrm>
      </p:grpSpPr>
      <p:sp>
        <p:nvSpPr>
          <p:cNvPr id="42" name="Slayt Alt Başlığı"/>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Slayt Alt Başlığı</a:t>
            </a:r>
          </a:p>
        </p:txBody>
      </p:sp>
      <p:sp>
        <p:nvSpPr>
          <p:cNvPr id="43" name="Slayt Başlığı"/>
          <p:cNvSpPr txBox="1"/>
          <p:nvPr>
            <p:ph type="title" hasCustomPrompt="1"/>
          </p:nvPr>
        </p:nvSpPr>
        <p:spPr>
          <a:prstGeom prst="rect">
            <a:avLst/>
          </a:prstGeom>
        </p:spPr>
        <p:txBody>
          <a:bodyPr/>
          <a:lstStyle/>
          <a:p>
            <a:pPr/>
            <a:r>
              <a:t>Slayt Başlığı</a:t>
            </a:r>
          </a:p>
        </p:txBody>
      </p:sp>
      <p:sp>
        <p:nvSpPr>
          <p:cNvPr id="44" name="Gövde Düzeyi Bir…"/>
          <p:cNvSpPr txBox="1"/>
          <p:nvPr>
            <p:ph type="body" idx="1" hasCustomPrompt="1"/>
          </p:nvPr>
        </p:nvSpPr>
        <p:spPr>
          <a:prstGeom prst="rect">
            <a:avLst/>
          </a:prstGeom>
        </p:spPr>
        <p:txBody>
          <a:bodyPr/>
          <a:lstStyle/>
          <a:p>
            <a:pPr/>
            <a:r>
              <a:t>Slayt madde işareti metni</a:t>
            </a:r>
          </a:p>
          <a:p>
            <a:pPr lvl="1"/>
            <a:r>
              <a:t/>
            </a:r>
          </a:p>
          <a:p>
            <a:pPr lvl="2"/>
            <a:r>
              <a:t/>
            </a:r>
          </a:p>
          <a:p>
            <a:pPr lvl="3"/>
            <a:r>
              <a:t/>
            </a:r>
          </a:p>
          <a:p>
            <a:pPr lvl="4"/>
            <a:r>
              <a:t/>
            </a:r>
          </a:p>
        </p:txBody>
      </p:sp>
      <p:sp>
        <p:nvSpPr>
          <p:cNvPr id="45"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dde İşaretleri">
    <p:spTree>
      <p:nvGrpSpPr>
        <p:cNvPr id="1" name=""/>
        <p:cNvGrpSpPr/>
        <p:nvPr/>
      </p:nvGrpSpPr>
      <p:grpSpPr>
        <a:xfrm>
          <a:off x="0" y="0"/>
          <a:ext cx="0" cy="0"/>
          <a:chOff x="0" y="0"/>
          <a:chExt cx="0" cy="0"/>
        </a:xfrm>
      </p:grpSpPr>
      <p:sp>
        <p:nvSpPr>
          <p:cNvPr id="52" name="Gövde Düzeyi Bir…"/>
          <p:cNvSpPr txBox="1"/>
          <p:nvPr>
            <p:ph type="body" idx="1" hasCustomPrompt="1"/>
          </p:nvPr>
        </p:nvSpPr>
        <p:spPr>
          <a:prstGeom prst="rect">
            <a:avLst/>
          </a:prstGeom>
        </p:spPr>
        <p:txBody>
          <a:bodyPr/>
          <a:lstStyle/>
          <a:p>
            <a:pPr/>
            <a:r>
              <a:t>Slayt madde işareti metni</a:t>
            </a:r>
          </a:p>
          <a:p>
            <a:pPr lvl="1"/>
            <a:r>
              <a:t/>
            </a:r>
          </a:p>
          <a:p>
            <a:pPr lvl="2"/>
            <a:r>
              <a:t/>
            </a:r>
          </a:p>
          <a:p>
            <a:pPr lvl="3"/>
            <a:r>
              <a:t/>
            </a:r>
          </a:p>
          <a:p>
            <a:pPr lvl="4"/>
            <a:r>
              <a:t/>
            </a:r>
          </a:p>
        </p:txBody>
      </p:sp>
      <p:sp>
        <p:nvSpPr>
          <p:cNvPr id="53"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aşlık, Maddeler ve Fotoğraf">
    <p:spTree>
      <p:nvGrpSpPr>
        <p:cNvPr id="1" name=""/>
        <p:cNvGrpSpPr/>
        <p:nvPr/>
      </p:nvGrpSpPr>
      <p:grpSpPr>
        <a:xfrm>
          <a:off x="0" y="0"/>
          <a:ext cx="0" cy="0"/>
          <a:chOff x="0" y="0"/>
          <a:chExt cx="0" cy="0"/>
        </a:xfrm>
      </p:grpSpPr>
      <p:sp>
        <p:nvSpPr>
          <p:cNvPr id="60" name="Ahşap lambrili bir tavanın kısmi görünümü"/>
          <p:cNvSpPr/>
          <p:nvPr>
            <p:ph type="pic" idx="21"/>
          </p:nvPr>
        </p:nvSpPr>
        <p:spPr>
          <a:xfrm>
            <a:off x="9588500" y="-482600"/>
            <a:ext cx="21513800" cy="14300200"/>
          </a:xfrm>
          <a:prstGeom prst="rect">
            <a:avLst/>
          </a:prstGeom>
        </p:spPr>
        <p:txBody>
          <a:bodyPr lIns="91439" tIns="45719" rIns="91439" bIns="45719">
            <a:noAutofit/>
          </a:bodyPr>
          <a:lstStyle/>
          <a:p>
            <a:pPr/>
          </a:p>
        </p:txBody>
      </p:sp>
      <p:sp>
        <p:nvSpPr>
          <p:cNvPr id="61" name="Slayt Alt Başlığı"/>
          <p:cNvSpPr txBox="1"/>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Slayt Alt Başlığı</a:t>
            </a:r>
          </a:p>
        </p:txBody>
      </p:sp>
      <p:sp>
        <p:nvSpPr>
          <p:cNvPr id="62" name="Slayt Başlığı"/>
          <p:cNvSpPr txBox="1"/>
          <p:nvPr>
            <p:ph type="title" hasCustomPrompt="1"/>
          </p:nvPr>
        </p:nvSpPr>
        <p:spPr>
          <a:xfrm>
            <a:off x="1206500" y="635000"/>
            <a:ext cx="9779000" cy="1689100"/>
          </a:xfrm>
          <a:prstGeom prst="rect">
            <a:avLst/>
          </a:prstGeom>
        </p:spPr>
        <p:txBody>
          <a:bodyPr/>
          <a:lstStyle/>
          <a:p>
            <a:pPr/>
            <a:r>
              <a:t>Slayt Başlığı</a:t>
            </a:r>
          </a:p>
        </p:txBody>
      </p:sp>
      <p:sp>
        <p:nvSpPr>
          <p:cNvPr id="63" name="Gövde Düzeyi Bir…"/>
          <p:cNvSpPr txBox="1"/>
          <p:nvPr>
            <p:ph type="body" sz="half" idx="1" hasCustomPrompt="1"/>
          </p:nvPr>
        </p:nvSpPr>
        <p:spPr>
          <a:xfrm>
            <a:off x="1206500" y="4248504"/>
            <a:ext cx="9779000" cy="8256012"/>
          </a:xfrm>
          <a:prstGeom prst="rect">
            <a:avLst/>
          </a:prstGeom>
        </p:spPr>
        <p:txBody>
          <a:bodyPr/>
          <a:lstStyle/>
          <a:p>
            <a:pPr/>
            <a:r>
              <a:t>Slayt madde işareti metni</a:t>
            </a:r>
          </a:p>
          <a:p>
            <a:pPr lvl="1"/>
            <a:r>
              <a:t/>
            </a:r>
          </a:p>
          <a:p>
            <a:pPr lvl="2"/>
            <a:r>
              <a:t/>
            </a:r>
          </a:p>
          <a:p>
            <a:pPr lvl="3"/>
            <a:r>
              <a:t/>
            </a:r>
          </a:p>
          <a:p>
            <a:pPr lvl="4"/>
            <a:r>
              <a:t/>
            </a:r>
          </a:p>
        </p:txBody>
      </p:sp>
      <p:sp>
        <p:nvSpPr>
          <p:cNvPr id="64"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aşlık, Maddeler ve Küçük Canlı Video">
    <p:spTree>
      <p:nvGrpSpPr>
        <p:cNvPr id="1" name=""/>
        <p:cNvGrpSpPr/>
        <p:nvPr/>
      </p:nvGrpSpPr>
      <p:grpSpPr>
        <a:xfrm>
          <a:off x="0" y="0"/>
          <a:ext cx="0" cy="0"/>
          <a:chOff x="0" y="0"/>
          <a:chExt cx="0" cy="0"/>
        </a:xfrm>
      </p:grpSpPr>
      <p:sp>
        <p:nvSpPr>
          <p:cNvPr id="71" name="Slayt Alt Başlığı"/>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Slayt Alt Başlığı</a:t>
            </a:r>
          </a:p>
        </p:txBody>
      </p:sp>
      <p:sp>
        <p:nvSpPr>
          <p:cNvPr id="72" name="Slayt Başlığı"/>
          <p:cNvSpPr txBox="1"/>
          <p:nvPr>
            <p:ph type="title" hasCustomPrompt="1"/>
          </p:nvPr>
        </p:nvSpPr>
        <p:spPr>
          <a:prstGeom prst="rect">
            <a:avLst/>
          </a:prstGeom>
        </p:spPr>
        <p:txBody>
          <a:bodyPr/>
          <a:lstStyle/>
          <a:p>
            <a:pPr/>
            <a:r>
              <a:t>Slayt Başlığı</a:t>
            </a:r>
          </a:p>
        </p:txBody>
      </p:sp>
      <p:sp>
        <p:nvSpPr>
          <p:cNvPr id="73" name="Gövde Düzeyi Bir…"/>
          <p:cNvSpPr txBox="1"/>
          <p:nvPr>
            <p:ph type="body" sz="half" idx="1" hasCustomPrompt="1"/>
          </p:nvPr>
        </p:nvSpPr>
        <p:spPr>
          <a:xfrm>
            <a:off x="1206500" y="4248504"/>
            <a:ext cx="9779000" cy="8256012"/>
          </a:xfrm>
          <a:prstGeom prst="rect">
            <a:avLst/>
          </a:prstGeom>
        </p:spPr>
        <p:txBody>
          <a:bodyPr/>
          <a:lstStyle/>
          <a:p>
            <a:pPr/>
            <a:r>
              <a:t>Slayt madde işareti metni</a:t>
            </a:r>
          </a:p>
          <a:p>
            <a:pPr lvl="1"/>
            <a:r>
              <a:t/>
            </a:r>
          </a:p>
          <a:p>
            <a:pPr lvl="2"/>
            <a:r>
              <a:t/>
            </a:r>
          </a:p>
          <a:p>
            <a:pPr lvl="3"/>
            <a:r>
              <a:t/>
            </a:r>
          </a:p>
          <a:p>
            <a:pPr lvl="4"/>
            <a:r>
              <a:t/>
            </a:r>
          </a:p>
        </p:txBody>
      </p:sp>
      <p:sp>
        <p:nvSpPr>
          <p:cNvPr id="74"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aşlık, Maddeler ve Büyük Canlı Video">
    <p:spTree>
      <p:nvGrpSpPr>
        <p:cNvPr id="1" name=""/>
        <p:cNvGrpSpPr/>
        <p:nvPr/>
      </p:nvGrpSpPr>
      <p:grpSpPr>
        <a:xfrm>
          <a:off x="0" y="0"/>
          <a:ext cx="0" cy="0"/>
          <a:chOff x="0" y="0"/>
          <a:chExt cx="0" cy="0"/>
        </a:xfrm>
      </p:grpSpPr>
      <p:sp>
        <p:nvSpPr>
          <p:cNvPr id="81" name="Slayt Alt Başlığı"/>
          <p:cNvSpPr txBox="1"/>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Slayt Alt Başlığı</a:t>
            </a:r>
          </a:p>
        </p:txBody>
      </p:sp>
      <p:sp>
        <p:nvSpPr>
          <p:cNvPr id="82" name="Slayt Başlığı"/>
          <p:cNvSpPr txBox="1"/>
          <p:nvPr>
            <p:ph type="title" hasCustomPrompt="1"/>
          </p:nvPr>
        </p:nvSpPr>
        <p:spPr>
          <a:xfrm>
            <a:off x="1206500" y="635000"/>
            <a:ext cx="9779000" cy="1689100"/>
          </a:xfrm>
          <a:prstGeom prst="rect">
            <a:avLst/>
          </a:prstGeom>
        </p:spPr>
        <p:txBody>
          <a:bodyPr/>
          <a:lstStyle/>
          <a:p>
            <a:pPr/>
            <a:r>
              <a:t>Slayt Başlığı</a:t>
            </a:r>
          </a:p>
        </p:txBody>
      </p:sp>
      <p:sp>
        <p:nvSpPr>
          <p:cNvPr id="83" name="Gövde Düzeyi Bir…"/>
          <p:cNvSpPr txBox="1"/>
          <p:nvPr>
            <p:ph type="body" sz="half" idx="1" hasCustomPrompt="1"/>
          </p:nvPr>
        </p:nvSpPr>
        <p:spPr>
          <a:xfrm>
            <a:off x="1206500" y="4248504"/>
            <a:ext cx="9779000" cy="8256012"/>
          </a:xfrm>
          <a:prstGeom prst="rect">
            <a:avLst/>
          </a:prstGeom>
        </p:spPr>
        <p:txBody>
          <a:bodyPr/>
          <a:lstStyle/>
          <a:p>
            <a:pPr/>
            <a:r>
              <a:t>Slayt madde işareti metni</a:t>
            </a:r>
          </a:p>
          <a:p>
            <a:pPr lvl="1"/>
            <a:r>
              <a:t/>
            </a:r>
          </a:p>
          <a:p>
            <a:pPr lvl="2"/>
            <a:r>
              <a:t/>
            </a:r>
          </a:p>
          <a:p>
            <a:pPr lvl="3"/>
            <a:r>
              <a:t/>
            </a:r>
          </a:p>
          <a:p>
            <a:pPr lvl="4"/>
            <a:r>
              <a:t/>
            </a:r>
          </a:p>
        </p:txBody>
      </p:sp>
      <p:sp>
        <p:nvSpPr>
          <p:cNvPr id="84"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ölüm">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91" name="Bölüm Başlığı"/>
          <p:cNvSpPr txBox="1"/>
          <p:nvPr>
            <p:ph type="title" hasCustomPrompt="1"/>
          </p:nvPr>
        </p:nvSpPr>
        <p:spPr>
          <a:xfrm>
            <a:off x="1206496" y="3911600"/>
            <a:ext cx="21971004" cy="4648200"/>
          </a:xfrm>
          <a:prstGeom prst="rect">
            <a:avLst/>
          </a:prstGeom>
        </p:spPr>
        <p:txBody>
          <a:bodyPr anchor="ctr"/>
          <a:lstStyle>
            <a:lvl1pPr>
              <a:defRPr spc="-119" sz="12000"/>
            </a:lvl1pPr>
          </a:lstStyle>
          <a:p>
            <a:pPr/>
            <a:r>
              <a:t>Bölüm Başlığı</a:t>
            </a:r>
          </a:p>
        </p:txBody>
      </p:sp>
      <p:sp>
        <p:nvSpPr>
          <p:cNvPr id="92"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Yalnızca Başlık">
    <p:spTree>
      <p:nvGrpSpPr>
        <p:cNvPr id="1" name=""/>
        <p:cNvGrpSpPr/>
        <p:nvPr/>
      </p:nvGrpSpPr>
      <p:grpSpPr>
        <a:xfrm>
          <a:off x="0" y="0"/>
          <a:ext cx="0" cy="0"/>
          <a:chOff x="0" y="0"/>
          <a:chExt cx="0" cy="0"/>
        </a:xfrm>
      </p:grpSpPr>
      <p:sp>
        <p:nvSpPr>
          <p:cNvPr id="99" name="Slayt Alt Başlığı"/>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Slayt Alt Başlığı</a:t>
            </a:r>
          </a:p>
        </p:txBody>
      </p:sp>
      <p:sp>
        <p:nvSpPr>
          <p:cNvPr id="100" name="Slayt Başlığı"/>
          <p:cNvSpPr txBox="1"/>
          <p:nvPr>
            <p:ph type="title" hasCustomPrompt="1"/>
          </p:nvPr>
        </p:nvSpPr>
        <p:spPr>
          <a:prstGeom prst="rect">
            <a:avLst/>
          </a:prstGeom>
        </p:spPr>
        <p:txBody>
          <a:bodyPr/>
          <a:lstStyle/>
          <a:p>
            <a:pPr/>
            <a:r>
              <a:t>Slayt Başlığı</a:t>
            </a:r>
          </a:p>
        </p:txBody>
      </p:sp>
      <p:sp>
        <p:nvSpPr>
          <p:cNvPr id="101"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janda">
    <p:spTree>
      <p:nvGrpSpPr>
        <p:cNvPr id="1" name=""/>
        <p:cNvGrpSpPr/>
        <p:nvPr/>
      </p:nvGrpSpPr>
      <p:grpSpPr>
        <a:xfrm>
          <a:off x="0" y="0"/>
          <a:ext cx="0" cy="0"/>
          <a:chOff x="0" y="0"/>
          <a:chExt cx="0" cy="0"/>
        </a:xfrm>
      </p:grpSpPr>
      <p:sp>
        <p:nvSpPr>
          <p:cNvPr id="108" name="Ajanda Alt Başlığı"/>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Ajanda Alt Başlığı</a:t>
            </a:r>
          </a:p>
        </p:txBody>
      </p:sp>
      <p:sp>
        <p:nvSpPr>
          <p:cNvPr id="109" name="Gövde Düzeyi Bir…"/>
          <p:cNvSpPr txBox="1"/>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pPr/>
            <a:r>
              <a:t>Ajanda Konuları</a:t>
            </a:r>
          </a:p>
          <a:p>
            <a:pPr lvl="1"/>
            <a:r>
              <a:t/>
            </a:r>
          </a:p>
          <a:p>
            <a:pPr lvl="2"/>
            <a:r>
              <a:t/>
            </a:r>
          </a:p>
          <a:p>
            <a:pPr lvl="3"/>
            <a:r>
              <a:t/>
            </a:r>
          </a:p>
          <a:p>
            <a:pPr lvl="4"/>
            <a:r>
              <a:t/>
            </a:r>
          </a:p>
        </p:txBody>
      </p:sp>
      <p:sp>
        <p:nvSpPr>
          <p:cNvPr id="110" name="Ajanda Başlığı"/>
          <p:cNvSpPr txBox="1"/>
          <p:nvPr>
            <p:ph type="title" hasCustomPrompt="1"/>
          </p:nvPr>
        </p:nvSpPr>
        <p:spPr>
          <a:prstGeom prst="rect">
            <a:avLst/>
          </a:prstGeom>
        </p:spPr>
        <p:txBody>
          <a:bodyPr/>
          <a:lstStyle/>
          <a:p>
            <a:pPr/>
            <a:r>
              <a:t>Ajanda Başlığı</a:t>
            </a:r>
          </a:p>
        </p:txBody>
      </p:sp>
      <p:sp>
        <p:nvSpPr>
          <p:cNvPr id="111"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Rapor">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8" name="Gövde Düzeyi Bir…"/>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mn-lt"/>
                <a:ea typeface="+mn-ea"/>
                <a:cs typeface="+mn-cs"/>
                <a:sym typeface="Produkt Extralight"/>
              </a:defRPr>
            </a:lvl1pPr>
            <a:lvl2pPr marL="0" indent="457200" algn="ctr" defTabSz="2438400">
              <a:lnSpc>
                <a:spcPct val="90000"/>
              </a:lnSpc>
              <a:spcBef>
                <a:spcPts val="0"/>
              </a:spcBef>
              <a:buSzTx/>
              <a:buNone/>
              <a:defRPr spc="-119" sz="12000">
                <a:latin typeface="+mn-lt"/>
                <a:ea typeface="+mn-ea"/>
                <a:cs typeface="+mn-cs"/>
                <a:sym typeface="Produkt Extralight"/>
              </a:defRPr>
            </a:lvl2pPr>
            <a:lvl3pPr marL="0" indent="914400" algn="ctr" defTabSz="2438400">
              <a:lnSpc>
                <a:spcPct val="90000"/>
              </a:lnSpc>
              <a:spcBef>
                <a:spcPts val="0"/>
              </a:spcBef>
              <a:buSzTx/>
              <a:buNone/>
              <a:defRPr spc="-119" sz="12000">
                <a:latin typeface="+mn-lt"/>
                <a:ea typeface="+mn-ea"/>
                <a:cs typeface="+mn-cs"/>
                <a:sym typeface="Produkt Extralight"/>
              </a:defRPr>
            </a:lvl3pPr>
            <a:lvl4pPr marL="0" indent="1371600" algn="ctr" defTabSz="2438400">
              <a:lnSpc>
                <a:spcPct val="90000"/>
              </a:lnSpc>
              <a:spcBef>
                <a:spcPts val="0"/>
              </a:spcBef>
              <a:buSzTx/>
              <a:buNone/>
              <a:defRPr spc="-119" sz="12000">
                <a:latin typeface="+mn-lt"/>
                <a:ea typeface="+mn-ea"/>
                <a:cs typeface="+mn-cs"/>
                <a:sym typeface="Produkt Extralight"/>
              </a:defRPr>
            </a:lvl4pPr>
            <a:lvl5pPr marL="0" indent="1828800" algn="ctr" defTabSz="2438400">
              <a:lnSpc>
                <a:spcPct val="90000"/>
              </a:lnSpc>
              <a:spcBef>
                <a:spcPts val="0"/>
              </a:spcBef>
              <a:buSzTx/>
              <a:buNone/>
              <a:defRPr spc="-119" sz="12000">
                <a:latin typeface="+mn-lt"/>
                <a:ea typeface="+mn-ea"/>
                <a:cs typeface="+mn-cs"/>
                <a:sym typeface="Produkt Extralight"/>
              </a:defRPr>
            </a:lvl5pPr>
          </a:lstStyle>
          <a:p>
            <a:pPr/>
            <a:r>
              <a:t>Rapor</a:t>
            </a:r>
          </a:p>
          <a:p>
            <a:pPr lvl="1"/>
            <a:r>
              <a:t/>
            </a:r>
          </a:p>
          <a:p>
            <a:pPr lvl="2"/>
            <a:r>
              <a:t/>
            </a:r>
          </a:p>
          <a:p>
            <a:pPr lvl="3"/>
            <a:r>
              <a:t/>
            </a:r>
          </a:p>
          <a:p>
            <a:pPr lvl="4"/>
            <a:r>
              <a:t/>
            </a:r>
          </a:p>
        </p:txBody>
      </p:sp>
      <p:sp>
        <p:nvSpPr>
          <p:cNvPr id="119"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üyük Veri">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6" name="Gövde Düzeyi Bir…"/>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mn-lt"/>
                <a:ea typeface="+mn-ea"/>
                <a:cs typeface="+mn-cs"/>
                <a:sym typeface="Produkt Extralight"/>
              </a:defRPr>
            </a:lvl1pPr>
            <a:lvl2pPr marL="0" indent="457200" algn="ctr" defTabSz="2438400">
              <a:lnSpc>
                <a:spcPct val="90000"/>
              </a:lnSpc>
              <a:spcBef>
                <a:spcPts val="0"/>
              </a:spcBef>
              <a:buSzTx/>
              <a:buNone/>
              <a:defRPr spc="-1750" sz="35000">
                <a:latin typeface="+mn-lt"/>
                <a:ea typeface="+mn-ea"/>
                <a:cs typeface="+mn-cs"/>
                <a:sym typeface="Produkt Extralight"/>
              </a:defRPr>
            </a:lvl2pPr>
            <a:lvl3pPr marL="0" indent="914400" algn="ctr" defTabSz="2438400">
              <a:lnSpc>
                <a:spcPct val="90000"/>
              </a:lnSpc>
              <a:spcBef>
                <a:spcPts val="0"/>
              </a:spcBef>
              <a:buSzTx/>
              <a:buNone/>
              <a:defRPr spc="-1750" sz="35000">
                <a:latin typeface="+mn-lt"/>
                <a:ea typeface="+mn-ea"/>
                <a:cs typeface="+mn-cs"/>
                <a:sym typeface="Produkt Extralight"/>
              </a:defRPr>
            </a:lvl3pPr>
            <a:lvl4pPr marL="0" indent="1371600" algn="ctr" defTabSz="2438400">
              <a:lnSpc>
                <a:spcPct val="90000"/>
              </a:lnSpc>
              <a:spcBef>
                <a:spcPts val="0"/>
              </a:spcBef>
              <a:buSzTx/>
              <a:buNone/>
              <a:defRPr spc="-1750" sz="35000">
                <a:latin typeface="+mn-lt"/>
                <a:ea typeface="+mn-ea"/>
                <a:cs typeface="+mn-cs"/>
                <a:sym typeface="Produkt Extralight"/>
              </a:defRPr>
            </a:lvl4pPr>
            <a:lvl5pPr marL="0" indent="1828800" algn="ctr" defTabSz="2438400">
              <a:lnSpc>
                <a:spcPct val="90000"/>
              </a:lnSpc>
              <a:spcBef>
                <a:spcPts val="0"/>
              </a:spcBef>
              <a:buSzTx/>
              <a:buNone/>
              <a:defRPr spc="-1750" sz="35000">
                <a:latin typeface="+mn-lt"/>
                <a:ea typeface="+mn-ea"/>
                <a:cs typeface="+mn-cs"/>
                <a:sym typeface="Produkt Extralight"/>
              </a:defRPr>
            </a:lvl5pPr>
          </a:lstStyle>
          <a:p>
            <a:pPr/>
            <a:r>
              <a:t>%100</a:t>
            </a:r>
          </a:p>
          <a:p>
            <a:pPr lvl="1"/>
            <a:r>
              <a:t/>
            </a:r>
          </a:p>
          <a:p>
            <a:pPr lvl="2"/>
            <a:r>
              <a:t/>
            </a:r>
          </a:p>
          <a:p>
            <a:pPr lvl="3"/>
            <a:r>
              <a:t/>
            </a:r>
          </a:p>
          <a:p>
            <a:pPr lvl="4"/>
            <a:r>
              <a:t/>
            </a:r>
          </a:p>
        </p:txBody>
      </p:sp>
      <p:sp>
        <p:nvSpPr>
          <p:cNvPr id="127" name="Veri bilgisi"/>
          <p:cNvSpPr txBox="1"/>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pc="-55" sz="5500">
                <a:latin typeface="+mn-lt"/>
                <a:ea typeface="+mn-ea"/>
                <a:cs typeface="+mn-cs"/>
                <a:sym typeface="Produkt Extralight"/>
              </a:defRPr>
            </a:lvl1pPr>
          </a:lstStyle>
          <a:p>
            <a:pPr/>
            <a:r>
              <a:t>Veri bilgisi</a:t>
            </a:r>
          </a:p>
        </p:txBody>
      </p:sp>
      <p:sp>
        <p:nvSpPr>
          <p:cNvPr id="128"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lıntı">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5" name="İsim"/>
          <p:cNvSpPr txBox="1"/>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pPr/>
            <a:r>
              <a:t>İsim</a:t>
            </a:r>
          </a:p>
        </p:txBody>
      </p:sp>
      <p:sp>
        <p:nvSpPr>
          <p:cNvPr id="136" name="Gövde Düzeyi Bir…"/>
          <p:cNvSpPr txBox="1"/>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pc="-93" sz="9300">
                <a:latin typeface="+mn-lt"/>
                <a:ea typeface="+mn-ea"/>
                <a:cs typeface="+mn-cs"/>
                <a:sym typeface="Produkt Extralight"/>
              </a:defRPr>
            </a:lvl1pPr>
            <a:lvl2pPr marL="254000" indent="203200" defTabSz="2438400">
              <a:lnSpc>
                <a:spcPct val="90000"/>
              </a:lnSpc>
              <a:spcBef>
                <a:spcPts val="0"/>
              </a:spcBef>
              <a:buSzTx/>
              <a:buNone/>
              <a:defRPr spc="-93" sz="9300">
                <a:latin typeface="+mn-lt"/>
                <a:ea typeface="+mn-ea"/>
                <a:cs typeface="+mn-cs"/>
                <a:sym typeface="Produkt Extralight"/>
              </a:defRPr>
            </a:lvl2pPr>
            <a:lvl3pPr marL="254000" indent="660400" defTabSz="2438400">
              <a:lnSpc>
                <a:spcPct val="90000"/>
              </a:lnSpc>
              <a:spcBef>
                <a:spcPts val="0"/>
              </a:spcBef>
              <a:buSzTx/>
              <a:buNone/>
              <a:defRPr spc="-93" sz="9300">
                <a:latin typeface="+mn-lt"/>
                <a:ea typeface="+mn-ea"/>
                <a:cs typeface="+mn-cs"/>
                <a:sym typeface="Produkt Extralight"/>
              </a:defRPr>
            </a:lvl3pPr>
            <a:lvl4pPr marL="254000" indent="1117600" defTabSz="2438400">
              <a:lnSpc>
                <a:spcPct val="90000"/>
              </a:lnSpc>
              <a:spcBef>
                <a:spcPts val="0"/>
              </a:spcBef>
              <a:buSzTx/>
              <a:buNone/>
              <a:defRPr spc="-93" sz="9300">
                <a:latin typeface="+mn-lt"/>
                <a:ea typeface="+mn-ea"/>
                <a:cs typeface="+mn-cs"/>
                <a:sym typeface="Produkt Extralight"/>
              </a:defRPr>
            </a:lvl4pPr>
            <a:lvl5pPr marL="254000" indent="1574800" defTabSz="2438400">
              <a:lnSpc>
                <a:spcPct val="90000"/>
              </a:lnSpc>
              <a:spcBef>
                <a:spcPts val="0"/>
              </a:spcBef>
              <a:buSzTx/>
              <a:buNone/>
              <a:defRPr spc="-93" sz="9300">
                <a:latin typeface="+mn-lt"/>
                <a:ea typeface="+mn-ea"/>
                <a:cs typeface="+mn-cs"/>
                <a:sym typeface="Produkt Extralight"/>
              </a:defRPr>
            </a:lvl5pPr>
          </a:lstStyle>
          <a:p>
            <a:pPr/>
            <a:r>
              <a:t>“Ünlü Alıntı”</a:t>
            </a:r>
          </a:p>
          <a:p>
            <a:pPr lvl="1"/>
            <a:r>
              <a:t/>
            </a:r>
          </a:p>
          <a:p>
            <a:pPr lvl="2"/>
            <a:r>
              <a:t/>
            </a:r>
          </a:p>
          <a:p>
            <a:pPr lvl="3"/>
            <a:r>
              <a:t/>
            </a:r>
          </a:p>
          <a:p>
            <a:pPr lvl="4"/>
            <a:r>
              <a:t/>
            </a:r>
          </a:p>
        </p:txBody>
      </p:sp>
      <p:sp>
        <p:nvSpPr>
          <p:cNvPr id="137"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toğraf - 3 Yukarı">
    <p:spTree>
      <p:nvGrpSpPr>
        <p:cNvPr id="1" name=""/>
        <p:cNvGrpSpPr/>
        <p:nvPr/>
      </p:nvGrpSpPr>
      <p:grpSpPr>
        <a:xfrm>
          <a:off x="0" y="0"/>
          <a:ext cx="0" cy="0"/>
          <a:chOff x="0" y="0"/>
          <a:chExt cx="0" cy="0"/>
        </a:xfrm>
      </p:grpSpPr>
      <p:sp>
        <p:nvSpPr>
          <p:cNvPr id="144" name="Pembe ve mor bir gökyüzü altında üstü açık bir taş yapı koridoru"/>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Eğimli bir çatının siyah beyaz yakın çekim fotoğrafı"/>
          <p:cNvSpPr/>
          <p:nvPr>
            <p:ph type="pic" sz="half" idx="22"/>
          </p:nvPr>
        </p:nvSpPr>
        <p:spPr>
          <a:xfrm>
            <a:off x="6577500" y="3632200"/>
            <a:ext cx="11228999" cy="6451600"/>
          </a:xfrm>
          <a:prstGeom prst="rect">
            <a:avLst/>
          </a:prstGeom>
        </p:spPr>
        <p:txBody>
          <a:bodyPr lIns="91439" tIns="45719" rIns="91439" bIns="45719">
            <a:noAutofit/>
          </a:bodyPr>
          <a:lstStyle/>
          <a:p>
            <a:pPr/>
          </a:p>
        </p:txBody>
      </p:sp>
      <p:sp>
        <p:nvSpPr>
          <p:cNvPr id="146" name="Metal döner merdivenin alttan çekim açısından görünümü"/>
          <p:cNvSpPr/>
          <p:nvPr>
            <p:ph type="pic" sz="quarter" idx="23"/>
          </p:nvPr>
        </p:nvSpPr>
        <p:spPr>
          <a:xfrm>
            <a:off x="14643100" y="3632200"/>
            <a:ext cx="9677400" cy="6451600"/>
          </a:xfrm>
          <a:prstGeom prst="rect">
            <a:avLst/>
          </a:prstGeom>
        </p:spPr>
        <p:txBody>
          <a:bodyPr lIns="91439" tIns="45719" rIns="91439" bIns="45719">
            <a:noAutofit/>
          </a:bodyPr>
          <a:lstStyle/>
          <a:p>
            <a:pPr/>
          </a:p>
        </p:txBody>
      </p:sp>
      <p:sp>
        <p:nvSpPr>
          <p:cNvPr id="147"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otoğraf">
    <p:bg>
      <p:bgPr>
        <a:solidFill>
          <a:srgbClr val="FFFFFF"/>
        </a:solidFill>
      </p:bgPr>
    </p:bg>
    <p:spTree>
      <p:nvGrpSpPr>
        <p:cNvPr id="1" name=""/>
        <p:cNvGrpSpPr/>
        <p:nvPr/>
      </p:nvGrpSpPr>
      <p:grpSpPr>
        <a:xfrm>
          <a:off x="0" y="0"/>
          <a:ext cx="0" cy="0"/>
          <a:chOff x="0" y="0"/>
          <a:chExt cx="0" cy="0"/>
        </a:xfrm>
      </p:grpSpPr>
      <p:sp>
        <p:nvSpPr>
          <p:cNvPr id="154" name="Modern, beyaz bir koridor ve gölgeler"/>
          <p:cNvSpPr/>
          <p:nvPr>
            <p:ph type="pic" idx="21"/>
          </p:nvPr>
        </p:nvSpPr>
        <p:spPr>
          <a:xfrm>
            <a:off x="-38100" y="-520700"/>
            <a:ext cx="24447500" cy="14763310"/>
          </a:xfrm>
          <a:prstGeom prst="rect">
            <a:avLst/>
          </a:prstGeom>
        </p:spPr>
        <p:txBody>
          <a:bodyPr lIns="91439" tIns="45719" rIns="91439" bIns="45719">
            <a:noAutofit/>
          </a:bodyPr>
          <a:lstStyle/>
          <a:p>
            <a:pPr/>
          </a:p>
        </p:txBody>
      </p:sp>
      <p:sp>
        <p:nvSpPr>
          <p:cNvPr id="155"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oş">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2"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Slayt Başlığı"/>
          <p:cNvSpPr txBox="1"/>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Slayt Başlığı</a:t>
            </a:r>
          </a:p>
        </p:txBody>
      </p:sp>
      <p:sp>
        <p:nvSpPr>
          <p:cNvPr id="3" name="Gövde Düzeyi Bir…"/>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Slayt madde işareti metni</a:t>
            </a:r>
          </a:p>
          <a:p>
            <a:pPr lvl="1"/>
            <a:r>
              <a:t/>
            </a:r>
          </a:p>
          <a:p>
            <a:pPr lvl="2"/>
            <a:r>
              <a:t/>
            </a:r>
          </a:p>
          <a:p>
            <a:pPr lvl="3"/>
            <a:r>
              <a:t/>
            </a:r>
          </a:p>
          <a:p>
            <a:pPr lvl="4"/>
            <a:r>
              <a:t/>
            </a:r>
          </a:p>
        </p:txBody>
      </p:sp>
      <p:sp>
        <p:nvSpPr>
          <p:cNvPr id="4" name="Slayt Numarası"/>
          <p:cNvSpPr txBox="1"/>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Tarih: 21.12.2025"/>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lgn="r"/>
          </a:lstStyle>
          <a:p>
            <a:pPr/>
            <a:r>
              <a:t>Tarih: 21.12.2025</a:t>
            </a:r>
          </a:p>
        </p:txBody>
      </p:sp>
      <p:sp>
        <p:nvSpPr>
          <p:cNvPr id="172" name="Grup: Virus Vibe"/>
          <p:cNvSpPr txBox="1"/>
          <p:nvPr>
            <p:ph type="subTitle" sz="quarter" idx="1"/>
          </p:nvPr>
        </p:nvSpPr>
        <p:spPr>
          <a:prstGeom prst="rect">
            <a:avLst/>
          </a:prstGeom>
        </p:spPr>
        <p:txBody>
          <a:bodyPr/>
          <a:lstStyle/>
          <a:p>
            <a:pPr algn="ctr"/>
          </a:p>
          <a:p>
            <a:pPr algn="ctr">
              <a:defRPr>
                <a:latin typeface="Produkt Medium"/>
                <a:ea typeface="Produkt Medium"/>
                <a:cs typeface="Produkt Medium"/>
                <a:sym typeface="Produkt Medium"/>
              </a:defRPr>
            </a:pPr>
            <a:r>
              <a:t>Grup: Virus Vibe</a:t>
            </a:r>
          </a:p>
        </p:txBody>
      </p:sp>
      <p:sp>
        <p:nvSpPr>
          <p:cNvPr id="173" name="FET445 Veri Madenciliği…"/>
          <p:cNvSpPr txBox="1"/>
          <p:nvPr>
            <p:ph type="ctrTitle"/>
          </p:nvPr>
        </p:nvSpPr>
        <p:spPr>
          <a:prstGeom prst="rect">
            <a:avLst/>
          </a:prstGeom>
        </p:spPr>
        <p:txBody>
          <a:bodyPr/>
          <a:lstStyle/>
          <a:p>
            <a:pPr algn="ctr">
              <a:defRPr>
                <a:latin typeface="Produkt Medium"/>
                <a:ea typeface="Produkt Medium"/>
                <a:cs typeface="Produkt Medium"/>
                <a:sym typeface="Produkt Medium"/>
              </a:defRPr>
            </a:pPr>
            <a:r>
              <a:t>FET445 Veri Madenciliği </a:t>
            </a:r>
          </a:p>
          <a:p>
            <a:pPr algn="ctr">
              <a:defRPr spc="-70" sz="7000"/>
            </a:pPr>
            <a:r>
              <a:t>Su Atıklarındaki Grip Sınıflandırma</a:t>
            </a:r>
          </a:p>
        </p:txBody>
      </p:sp>
      <p:sp>
        <p:nvSpPr>
          <p:cNvPr id="174" name="Youtube Link:"/>
          <p:cNvSpPr txBox="1"/>
          <p:nvPr/>
        </p:nvSpPr>
        <p:spPr>
          <a:xfrm>
            <a:off x="1206500" y="11154968"/>
            <a:ext cx="21971000"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lgn="ctr" defTabSz="825500">
              <a:spcBef>
                <a:spcPts val="0"/>
              </a:spcBef>
              <a:defRPr sz="5500">
                <a:latin typeface="+mn-lt"/>
                <a:ea typeface="+mn-ea"/>
                <a:cs typeface="+mn-cs"/>
                <a:sym typeface="Produkt Extralight"/>
              </a:defRPr>
            </a:pPr>
          </a:p>
          <a:p>
            <a:pPr defTabSz="825500">
              <a:spcBef>
                <a:spcPts val="0"/>
              </a:spcBef>
              <a:defRPr sz="5000">
                <a:latin typeface="Produkt Medium"/>
                <a:ea typeface="Produkt Medium"/>
                <a:cs typeface="Produkt Medium"/>
                <a:sym typeface="Produkt Medium"/>
              </a:defRPr>
            </a:pPr>
            <a:r>
              <a:t>Youtube Link:</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Problemin Açıklanması"/>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a:latin typeface="Produkt Light"/>
                <a:ea typeface="Produkt Light"/>
                <a:cs typeface="Produkt Light"/>
                <a:sym typeface="Produkt Light"/>
              </a:defRPr>
            </a:lvl1pPr>
          </a:lstStyle>
          <a:p>
            <a:pPr/>
            <a:r>
              <a:t>Problemin Açıklanması</a:t>
            </a:r>
          </a:p>
        </p:txBody>
      </p:sp>
      <p:sp>
        <p:nvSpPr>
          <p:cNvPr id="177" name="Su Atıklarındaki Grip Sınıflandırma"/>
          <p:cNvSpPr txBox="1"/>
          <p:nvPr>
            <p:ph type="title"/>
          </p:nvPr>
        </p:nvSpPr>
        <p:spPr>
          <a:prstGeom prst="rect">
            <a:avLst/>
          </a:prstGeom>
        </p:spPr>
        <p:txBody>
          <a:bodyPr/>
          <a:lstStyle>
            <a:lvl1pPr defTabSz="2316479">
              <a:defRPr spc="-95" sz="9500">
                <a:latin typeface="Produkt Medium"/>
                <a:ea typeface="Produkt Medium"/>
                <a:cs typeface="Produkt Medium"/>
                <a:sym typeface="Produkt Medium"/>
              </a:defRPr>
            </a:lvl1pPr>
          </a:lstStyle>
          <a:p>
            <a:pPr/>
            <a:r>
              <a:t>Su Atıklarındaki Grip Sınıflandırma</a:t>
            </a:r>
          </a:p>
        </p:txBody>
      </p:sp>
      <p:sp>
        <p:nvSpPr>
          <p:cNvPr id="178" name="Çalışmamızda atık su verileri kullanılarak toplum düzeyinde Influenza A varlığının tahmin edilmesidir. Klinik vaka verileri gecikmeli ve sınırlı olabildiğinden atık su tabanlı izleme erken uyarı açısından önemli bir alternatif sunmaktadır. CDC tarafından"/>
          <p:cNvSpPr txBox="1"/>
          <p:nvPr>
            <p:ph type="body" idx="1"/>
          </p:nvPr>
        </p:nvSpPr>
        <p:spPr>
          <a:prstGeom prst="rect">
            <a:avLst/>
          </a:prstGeom>
        </p:spPr>
        <p:txBody>
          <a:bodyPr/>
          <a:lstStyle>
            <a:lvl1pPr marL="0" indent="0" algn="just" defTabSz="457200">
              <a:spcBef>
                <a:spcPts val="0"/>
              </a:spcBef>
              <a:buSzTx/>
              <a:buNone/>
              <a:defRPr sz="5400">
                <a:latin typeface="Times Roman"/>
                <a:ea typeface="Times Roman"/>
                <a:cs typeface="Times Roman"/>
                <a:sym typeface="Times Roman"/>
              </a:defRPr>
            </a:lvl1pPr>
          </a:lstStyle>
          <a:p>
            <a:pPr/>
            <a:r>
              <a:t>Çalışmamızda atık su verileri kullanılarak toplum düzeyinde Influenza A varlığının tahmin edilmesidir. Klinik vaka verileri gecikmeli ve sınırlı olabildiğinden atık su tabanlı izleme erken uyarı açısından önemli bir alternatif sunmaktadır. CDC tarafından sağlanan atık su verilerinden elde edilen çevresel, demografik kullanılarak ikili bir sınıflandırma problemi ele alınmıştır. Hedef değişken, ölçülen viral RNA konsantrasyonuna bağlı olarak Influenza A’nın varlığı (1) veya yokluğu (0) şeklinde tanımlanmıştır. Geliştirilen modeller ile Influenza A yayılımının erken tespiti ve halk sağlığı kararlarının desteklenmesi amaçlanmaktadır.</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Veri Seti Açıklaması"/>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Veri Seti Açıklaması</a:t>
            </a:r>
          </a:p>
        </p:txBody>
      </p:sp>
      <p:sp>
        <p:nvSpPr>
          <p:cNvPr id="181" name="Su Atıklarındaki Grip Sınıflandırma"/>
          <p:cNvSpPr txBox="1"/>
          <p:nvPr>
            <p:ph type="title"/>
          </p:nvPr>
        </p:nvSpPr>
        <p:spPr>
          <a:prstGeom prst="rect">
            <a:avLst/>
          </a:prstGeom>
        </p:spPr>
        <p:txBody>
          <a:bodyPr/>
          <a:lstStyle>
            <a:lvl1pPr defTabSz="2316479">
              <a:defRPr spc="-95" sz="9500">
                <a:latin typeface="Produkt Medium"/>
                <a:ea typeface="Produkt Medium"/>
                <a:cs typeface="Produkt Medium"/>
                <a:sym typeface="Produkt Medium"/>
              </a:defRPr>
            </a:lvl1pPr>
          </a:lstStyle>
          <a:p>
            <a:pPr/>
            <a:r>
              <a:t>Su Atıklarındaki Grip Sınıflandırma</a:t>
            </a:r>
          </a:p>
        </p:txBody>
      </p:sp>
      <p:sp>
        <p:nvSpPr>
          <p:cNvPr id="182" name="Link: https://catalog.data.gov/dataset/cdc-wastewater-data-for-influenza-a…"/>
          <p:cNvSpPr txBox="1"/>
          <p:nvPr>
            <p:ph type="body" idx="1"/>
          </p:nvPr>
        </p:nvSpPr>
        <p:spPr>
          <a:xfrm>
            <a:off x="1206500" y="3419116"/>
            <a:ext cx="21971000" cy="9714939"/>
          </a:xfrm>
          <a:prstGeom prst="rect">
            <a:avLst/>
          </a:prstGeom>
        </p:spPr>
        <p:txBody>
          <a:bodyPr/>
          <a:lstStyle/>
          <a:p>
            <a:pPr>
              <a:defRPr sz="3000"/>
            </a:pPr>
            <a:r>
              <a:rPr b="1">
                <a:latin typeface="Graphik"/>
                <a:ea typeface="Graphik"/>
                <a:cs typeface="Graphik"/>
                <a:sym typeface="Graphik"/>
              </a:rPr>
              <a:t>Link: </a:t>
            </a:r>
            <a:r>
              <a:t>https://catalog.data.gov/dataset/cdc-wastewater-data-for-influenza-a</a:t>
            </a:r>
          </a:p>
          <a:p>
            <a:pPr>
              <a:defRPr sz="3000"/>
            </a:pPr>
            <a:r>
              <a:rPr b="1">
                <a:latin typeface="Graphik"/>
                <a:ea typeface="Graphik"/>
                <a:cs typeface="Graphik"/>
                <a:sym typeface="Graphik"/>
              </a:rPr>
              <a:t>Size: </a:t>
            </a:r>
            <a:r>
              <a:t>212401 satır, 39 sütun</a:t>
            </a:r>
          </a:p>
          <a:p>
            <a:pPr>
              <a:defRPr sz="3000"/>
            </a:pPr>
            <a:r>
              <a:rPr b="1">
                <a:latin typeface="Graphik"/>
                <a:ea typeface="Graphik"/>
                <a:cs typeface="Graphik"/>
                <a:sym typeface="Graphik"/>
              </a:rPr>
              <a:t>Özellik Tipi: </a:t>
            </a:r>
            <a:r>
              <a:t> Sayısal (viral konsantrasyonlar, akış ve nüfus bilgileri), kategorik (tesis bilgileri, genetik hedefler) ve zamansal (tarih, ay, hafta) değişkenler</a:t>
            </a:r>
          </a:p>
          <a:p>
            <a:pPr>
              <a:defRPr sz="3000"/>
            </a:pPr>
            <a:r>
              <a:rPr b="1">
                <a:latin typeface="Graphik"/>
                <a:ea typeface="Graphik"/>
                <a:cs typeface="Graphik"/>
                <a:sym typeface="Graphik"/>
              </a:rPr>
              <a:t>Class Distribution:</a:t>
            </a:r>
            <a:r>
              <a:t> 0 (Influenza A yok): 123159, 1 (Influenza A var): 89242</a:t>
            </a:r>
          </a:p>
          <a:p>
            <a:pPr>
              <a:defRPr sz="3000"/>
            </a:pPr>
            <a:r>
              <a:rPr b="1">
                <a:latin typeface="Graphik"/>
                <a:ea typeface="Graphik"/>
                <a:cs typeface="Graphik"/>
                <a:sym typeface="Graphik"/>
              </a:rPr>
              <a:t>Dengeli:</a:t>
            </a:r>
            <a:r>
              <a:t> Sınıflar arasında ciddi bir dengesizlik bulunmamaktadır (%58 – %42)</a:t>
            </a:r>
          </a:p>
        </p:txBody>
      </p:sp>
      <p:graphicFrame>
        <p:nvGraphicFramePr>
          <p:cNvPr id="183" name="2B Pasta Grafik"/>
          <p:cNvGraphicFramePr/>
          <p:nvPr/>
        </p:nvGraphicFramePr>
        <p:xfrm>
          <a:off x="18022039" y="7729793"/>
          <a:ext cx="4952901" cy="4952900"/>
        </p:xfrm>
        <a:graphic xmlns:a="http://schemas.openxmlformats.org/drawingml/2006/main">
          <a:graphicData uri="http://schemas.openxmlformats.org/drawingml/2006/chart">
            <c:chart xmlns:c="http://schemas.openxmlformats.org/drawingml/2006/chart" r:id="rId2"/>
          </a:graphicData>
        </a:graphic>
      </p:graphicFrame>
      <p:sp>
        <p:nvSpPr>
          <p:cNvPr id="184" name="1 (89242)"/>
          <p:cNvSpPr txBox="1"/>
          <p:nvPr/>
        </p:nvSpPr>
        <p:spPr>
          <a:xfrm>
            <a:off x="16227269" y="11378426"/>
            <a:ext cx="2306623" cy="7696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1 (89242)</a:t>
            </a:r>
          </a:p>
        </p:txBody>
      </p:sp>
      <p:sp>
        <p:nvSpPr>
          <p:cNvPr id="185" name="0 (123159)"/>
          <p:cNvSpPr txBox="1"/>
          <p:nvPr/>
        </p:nvSpPr>
        <p:spPr>
          <a:xfrm>
            <a:off x="21653836" y="7421061"/>
            <a:ext cx="2396237" cy="7696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0 (123159)</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Temel Feature Engineering ve Feature Extraction Teknikleri"/>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a:latin typeface="Produkt Regular"/>
                <a:ea typeface="Produkt Regular"/>
                <a:cs typeface="Produkt Regular"/>
                <a:sym typeface="Produkt Regular"/>
              </a:defRPr>
            </a:lvl1pPr>
          </a:lstStyle>
          <a:p>
            <a:pPr/>
            <a:r>
              <a:t>Temel Feature Engineering ve Feature Extraction Teknikleri</a:t>
            </a:r>
          </a:p>
        </p:txBody>
      </p:sp>
      <p:sp>
        <p:nvSpPr>
          <p:cNvPr id="188" name="Su Atıklarındaki Grip Sınıflandırma"/>
          <p:cNvSpPr txBox="1"/>
          <p:nvPr>
            <p:ph type="title"/>
          </p:nvPr>
        </p:nvSpPr>
        <p:spPr>
          <a:prstGeom prst="rect">
            <a:avLst/>
          </a:prstGeom>
        </p:spPr>
        <p:txBody>
          <a:bodyPr/>
          <a:lstStyle>
            <a:lvl1pPr defTabSz="2316479">
              <a:defRPr spc="-95" sz="9500">
                <a:latin typeface="Produkt Medium"/>
                <a:ea typeface="Produkt Medium"/>
                <a:cs typeface="Produkt Medium"/>
                <a:sym typeface="Produkt Medium"/>
              </a:defRPr>
            </a:lvl1pPr>
          </a:lstStyle>
          <a:p>
            <a:pPr/>
            <a:r>
              <a:t>Su Atıklarındaki Grip Sınıflandırma</a:t>
            </a:r>
          </a:p>
        </p:txBody>
      </p:sp>
      <p:sp>
        <p:nvSpPr>
          <p:cNvPr id="189" name="Veri seti üzerinde zamansal, demografik ve operasyonel bilgileri daha anlamlı hale getirmek amacıyla çeşitli özellik mühendisliği adımları uygulanmıştır. Sayısal değişkenler üzerinde logaritmik ve polinom dönüşümler yapılmış, eksik değerler uygun istatis"/>
          <p:cNvSpPr txBox="1"/>
          <p:nvPr>
            <p:ph type="body" idx="1"/>
          </p:nvPr>
        </p:nvSpPr>
        <p:spPr>
          <a:prstGeom prst="rect">
            <a:avLst/>
          </a:prstGeom>
        </p:spPr>
        <p:txBody>
          <a:bodyPr/>
          <a:lstStyle>
            <a:lvl1pPr marL="0" indent="0" algn="just">
              <a:buSzTx/>
              <a:buNone/>
            </a:lvl1pPr>
          </a:lstStyle>
          <a:p>
            <a:pPr/>
            <a:r>
              <a:t>Veri seti üzerinde zamansal, demografik ve operasyonel bilgileri daha anlamlı hale getirmek amacıyla çeşitli özellik mühendisliği adımları uygulanmıştır. Sayısal değişkenler üzerinde logaritmik ve polinom dönüşümler yapılmış, eksik değerler uygun istatistiksel yöntemlerle ele alınmıştır. Kategorik değişkenler modele uygun hale getirilmiş ve ek türetilmiş özellikler oluşturulmuştur. Model karmaşıklığını azaltmak ve performansı artırmak için özellik seçimi yöntemleri kullanılmıştır. Ayrıca boyut indirgeme teknikleri ile daha kompakt ve temsil gücü yüksek özellik uzayları elde edilmiştir.</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Train-Test Split Oranı"/>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a:latin typeface="Produkt Medium"/>
                <a:ea typeface="Produkt Medium"/>
                <a:cs typeface="Produkt Medium"/>
                <a:sym typeface="Produkt Medium"/>
              </a:defRPr>
            </a:lvl1pPr>
          </a:lstStyle>
          <a:p>
            <a:pPr/>
            <a:r>
              <a:t>Train-Test Split Oranı</a:t>
            </a:r>
          </a:p>
        </p:txBody>
      </p:sp>
      <p:sp>
        <p:nvSpPr>
          <p:cNvPr id="192" name="Su Atıklarındaki Grip Sınıflandırma"/>
          <p:cNvSpPr txBox="1"/>
          <p:nvPr>
            <p:ph type="title"/>
          </p:nvPr>
        </p:nvSpPr>
        <p:spPr>
          <a:prstGeom prst="rect">
            <a:avLst/>
          </a:prstGeom>
        </p:spPr>
        <p:txBody>
          <a:bodyPr/>
          <a:lstStyle>
            <a:lvl1pPr defTabSz="2316479">
              <a:defRPr spc="-95" sz="9500">
                <a:latin typeface="Produkt Medium"/>
                <a:ea typeface="Produkt Medium"/>
                <a:cs typeface="Produkt Medium"/>
                <a:sym typeface="Produkt Medium"/>
              </a:defRPr>
            </a:lvl1pPr>
          </a:lstStyle>
          <a:p>
            <a:pPr/>
            <a:r>
              <a:t>Su Atıklarındaki Grip Sınıflandırma</a:t>
            </a:r>
          </a:p>
        </p:txBody>
      </p:sp>
      <p:sp>
        <p:nvSpPr>
          <p:cNvPr id="193" name="Veri seti %80 eğitim ve %20 test olacak şekilde ayrılmıştır. Eğitim seti 176325 veri, test seti ise 36076 veri içermektedir. Eğitim ve test kümelerinde sınıf dağılımları benzer tutulmuş, her iki sınıfta da Influenza A var ve yok örneklerinin dengeli şeki"/>
          <p:cNvSpPr txBox="1"/>
          <p:nvPr>
            <p:ph type="body" idx="1"/>
          </p:nvPr>
        </p:nvSpPr>
        <p:spPr>
          <a:prstGeom prst="rect">
            <a:avLst/>
          </a:prstGeom>
        </p:spPr>
        <p:txBody>
          <a:bodyPr/>
          <a:lstStyle>
            <a:lvl1pPr marL="0" indent="0" algn="just" defTabSz="457200">
              <a:spcBef>
                <a:spcPts val="0"/>
              </a:spcBef>
              <a:buSzTx/>
              <a:buNone/>
            </a:lvl1pPr>
          </a:lstStyle>
          <a:p>
            <a:pPr/>
            <a:r>
              <a:t>Veri seti %80 eğitim ve %20 test olacak şekilde ayrılmıştır. Eğitim seti 176325 veri, test seti ise 36076 veri içermektedir. Eğitim ve test kümelerinde sınıf dağılımları benzer tutulmuş, her iki sınıfta da Influenza A var ve yok örneklerinin dengeli şekilde temsil edilmesine dikkat edilmiştir. Bu sayede modellerin sadece eğitim verisine ezber yapması engellenmiş ve daha önce görmediği veriler üzerindeki gerçek performansı daha doğru şekilde ölçülmüştür.</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Performans Metrikleri"/>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a:latin typeface="Produkt Medium"/>
                <a:ea typeface="Produkt Medium"/>
                <a:cs typeface="Produkt Medium"/>
                <a:sym typeface="Produkt Medium"/>
              </a:defRPr>
            </a:lvl1pPr>
          </a:lstStyle>
          <a:p>
            <a:pPr/>
            <a:r>
              <a:t>Performans Metrikleri </a:t>
            </a:r>
          </a:p>
        </p:txBody>
      </p:sp>
      <p:sp>
        <p:nvSpPr>
          <p:cNvPr id="196" name="Su Atıklarındaki Grip Sınıflandırma"/>
          <p:cNvSpPr txBox="1"/>
          <p:nvPr>
            <p:ph type="title"/>
          </p:nvPr>
        </p:nvSpPr>
        <p:spPr>
          <a:prstGeom prst="rect">
            <a:avLst/>
          </a:prstGeom>
        </p:spPr>
        <p:txBody>
          <a:bodyPr/>
          <a:lstStyle>
            <a:lvl1pPr defTabSz="2316479">
              <a:defRPr spc="-95" sz="9500">
                <a:latin typeface="Produkt Medium"/>
                <a:ea typeface="Produkt Medium"/>
                <a:cs typeface="Produkt Medium"/>
                <a:sym typeface="Produkt Medium"/>
              </a:defRPr>
            </a:lvl1pPr>
          </a:lstStyle>
          <a:p>
            <a:pPr/>
            <a:r>
              <a:t>Su Atıklarındaki Grip Sınıflandırma</a:t>
            </a:r>
          </a:p>
        </p:txBody>
      </p:sp>
      <p:sp>
        <p:nvSpPr>
          <p:cNvPr id="197" name="Modellerin başarımı birden fazla ölçüt kullanılarak değerlendirilmiştir. Sınıflandırma doğruluğunu ölçmek için Accuracy, pozitif sınıfı ne kadar doğru tahmin ettiğini görmek için Precision, gerçek pozitifleri yakalama oranını ölçmek için Recallve bu iki "/>
          <p:cNvSpPr txBox="1"/>
          <p:nvPr>
            <p:ph type="body" idx="1"/>
          </p:nvPr>
        </p:nvSpPr>
        <p:spPr>
          <a:prstGeom prst="rect">
            <a:avLst/>
          </a:prstGeom>
        </p:spPr>
        <p:txBody>
          <a:bodyPr/>
          <a:lstStyle>
            <a:lvl1pPr marL="0" indent="0" algn="just" defTabSz="457200">
              <a:spcBef>
                <a:spcPts val="0"/>
              </a:spcBef>
              <a:buSzTx/>
              <a:buNone/>
            </a:lvl1pPr>
          </a:lstStyle>
          <a:p>
            <a:pPr/>
            <a:r>
              <a:t>Modellerin başarımı birden fazla ölçüt kullanılarak değerlendirilmiştir. Sınıflandırma doğruluğunu ölçmek için Accuracy, pozitif sınıfı ne kadar doğru tahmin ettiğini görmek için Precision, gerçek pozitifleri yakalama oranını ölçmek için Recallve bu iki metriğin dengeli bir birleşimi olan F1-score kullanılmıştır. Ayrıca modellerin farklı eşik değerlerindeki performansını incelemek amacıyla ROC-AUC metriği hesaplanmış ve ROC eğrileri ile görselleştirilmiştir. Ek olarak, modellerin ürettiği olasılık tahminlerinin kalibrasyon kalitesini değerlendirmek için İBS hesaplanmış; daha düşük İBS değeri, daha iyi olasılık tahmini anlamına gelecek şekilde yorumlanmıştır. </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Best Model 1: BaggingClassifier"/>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rPr>
                <a:latin typeface="Produkt Light"/>
                <a:ea typeface="Produkt Light"/>
                <a:cs typeface="Produkt Light"/>
                <a:sym typeface="Produkt Light"/>
              </a:rPr>
              <a:t>Best Model 1: </a:t>
            </a:r>
            <a:r>
              <a:t>BaggingClassifier</a:t>
            </a:r>
          </a:p>
        </p:txBody>
      </p:sp>
      <p:sp>
        <p:nvSpPr>
          <p:cNvPr id="200" name="Su Atıklarındaki Grip Sınıflandırma"/>
          <p:cNvSpPr txBox="1"/>
          <p:nvPr>
            <p:ph type="title"/>
          </p:nvPr>
        </p:nvSpPr>
        <p:spPr>
          <a:prstGeom prst="rect">
            <a:avLst/>
          </a:prstGeom>
        </p:spPr>
        <p:txBody>
          <a:bodyPr/>
          <a:lstStyle>
            <a:lvl1pPr defTabSz="2316479">
              <a:defRPr spc="-95" sz="9500">
                <a:latin typeface="Produkt Medium"/>
                <a:ea typeface="Produkt Medium"/>
                <a:cs typeface="Produkt Medium"/>
                <a:sym typeface="Produkt Medium"/>
              </a:defRPr>
            </a:lvl1pPr>
          </a:lstStyle>
          <a:p>
            <a:pPr/>
            <a:r>
              <a:t>Su Atıklarındaki Grip Sınıflandırma</a:t>
            </a:r>
          </a:p>
        </p:txBody>
      </p:sp>
      <p:sp>
        <p:nvSpPr>
          <p:cNvPr id="201" name="Model Geliştirilirken Kullanılan Yaklaşımlar: BaggingClassifier modelinde karar ağaçları temel öğrenici olarak kullanılmıştır. Model, farklı alt örneklemler ve özellik alt kümeleri üzerinde eğitilerek varyansın azaltılması ve daha kararlı tahminler yapıl"/>
          <p:cNvSpPr txBox="1"/>
          <p:nvPr>
            <p:ph type="body" idx="1"/>
          </p:nvPr>
        </p:nvSpPr>
        <p:spPr>
          <a:prstGeom prst="rect">
            <a:avLst/>
          </a:prstGeom>
        </p:spPr>
        <p:txBody>
          <a:bodyPr/>
          <a:lstStyle/>
          <a:p>
            <a:pPr marL="452627" indent="-452627" algn="just" defTabSz="352044">
              <a:spcBef>
                <a:spcPts val="4600"/>
              </a:spcBef>
              <a:defRPr sz="3959"/>
            </a:pPr>
            <a:r>
              <a:rPr b="1">
                <a:latin typeface="Graphik"/>
                <a:ea typeface="Graphik"/>
                <a:cs typeface="Graphik"/>
                <a:sym typeface="Graphik"/>
              </a:rPr>
              <a:t>Model Geliştirilirken Kullanılan Yaklaşımlar: </a:t>
            </a:r>
            <a:r>
              <a:t>BaggingClassifier modelinde karar ağaçları temel öğrenici olarak kullanılmıştır. Model, farklı alt örneklemler ve özellik alt kümeleri üzerinde eğitilerek varyansın azaltılması ve daha kararlı tahminler yapılması hedeflenmiştir. Ayrıca GroupShuffleSplit ve StratifiedKFold ile modelin genelleme performansı kontrol edilmiştir.</a:t>
            </a:r>
          </a:p>
          <a:p>
            <a:pPr marL="452627" indent="-452627" algn="just" defTabSz="352044">
              <a:spcBef>
                <a:spcPts val="4600"/>
              </a:spcBef>
              <a:defRPr sz="3959"/>
            </a:pPr>
            <a:r>
              <a:rPr b="1">
                <a:latin typeface="Graphik"/>
                <a:ea typeface="Graphik"/>
                <a:cs typeface="Graphik"/>
                <a:sym typeface="Graphik"/>
              </a:rPr>
              <a:t>Hyper Parametreler:</a:t>
            </a:r>
            <a:r>
              <a:t> Model için ağaç sayısı (n_estimators), her ağacın kullandığı örnek oranı (max_samples), özellik oranı (max_features), ağaç derinliği (max_depth) ve yapraklardaki minimum örnek sayısı (min_samples_leaf) RandomizedSearchCV ile optimize edilmiştir.</a:t>
            </a:r>
          </a:p>
          <a:p>
            <a:pPr marL="452627" indent="-452627" algn="just" defTabSz="352044">
              <a:spcBef>
                <a:spcPts val="4600"/>
              </a:spcBef>
              <a:defRPr sz="3959"/>
            </a:pPr>
            <a:r>
              <a:rPr b="1">
                <a:latin typeface="Graphik"/>
                <a:ea typeface="Graphik"/>
                <a:cs typeface="Graphik"/>
                <a:sym typeface="Graphik"/>
              </a:rPr>
              <a:t>Feature Set: </a:t>
            </a:r>
            <a:r>
              <a:t>[sewershed_id, lod_sewage, pcr_target_avg_conc_lin, pcr_target_flowpop_lin, collection_week, log_flow_rate, jurisdiction_positive_count, log_pop_sq]</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Best Model 1: BaggingClassifier"/>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rPr>
                <a:latin typeface="Produkt Light"/>
                <a:ea typeface="Produkt Light"/>
                <a:cs typeface="Produkt Light"/>
                <a:sym typeface="Produkt Light"/>
              </a:rPr>
              <a:t>Best Model 1: </a:t>
            </a:r>
            <a:r>
              <a:t>BaggingClassifier </a:t>
            </a:r>
          </a:p>
        </p:txBody>
      </p:sp>
      <p:sp>
        <p:nvSpPr>
          <p:cNvPr id="204" name="Su Atıklarındaki Grip Sınıflandırma"/>
          <p:cNvSpPr txBox="1"/>
          <p:nvPr>
            <p:ph type="title"/>
          </p:nvPr>
        </p:nvSpPr>
        <p:spPr>
          <a:prstGeom prst="rect">
            <a:avLst/>
          </a:prstGeom>
        </p:spPr>
        <p:txBody>
          <a:bodyPr/>
          <a:lstStyle>
            <a:lvl1pPr defTabSz="2316479">
              <a:defRPr spc="-95" sz="9500">
                <a:latin typeface="Produkt Medium"/>
                <a:ea typeface="Produkt Medium"/>
                <a:cs typeface="Produkt Medium"/>
                <a:sym typeface="Produkt Medium"/>
              </a:defRPr>
            </a:lvl1pPr>
          </a:lstStyle>
          <a:p>
            <a:pPr/>
            <a:r>
              <a:t>Su Atıklarındaki Grip Sınıflandırma</a:t>
            </a:r>
          </a:p>
        </p:txBody>
      </p:sp>
      <p:sp>
        <p:nvSpPr>
          <p:cNvPr id="205" name="PCA ve LDA uygulanmadan, SelectFromModel ile yapılan feature selection sonucunda model en yüksek performansına ulaşmıştır. Bu durumda model %94.20 accuracy ve 0.9776 ROC-AUC değeri elde ederek tüm deneyler arasında en başarılı sonuçları vermiştir.…"/>
          <p:cNvSpPr txBox="1"/>
          <p:nvPr>
            <p:ph type="body" idx="1"/>
          </p:nvPr>
        </p:nvSpPr>
        <p:spPr>
          <a:prstGeom prst="rect">
            <a:avLst/>
          </a:prstGeom>
        </p:spPr>
        <p:txBody>
          <a:bodyPr/>
          <a:lstStyle/>
          <a:p>
            <a:pPr marL="438911" indent="-438911" defTabSz="438911">
              <a:spcBef>
                <a:spcPts val="1100"/>
              </a:spcBef>
              <a:defRPr sz="3839">
                <a:latin typeface="Graphik"/>
                <a:ea typeface="Graphik"/>
                <a:cs typeface="Graphik"/>
                <a:sym typeface="Graphik"/>
              </a:defRPr>
            </a:pPr>
            <a:r>
              <a:t>PCA ve LDA uygulanmadan, SelectFromModel ile yapılan feature selection sonucunda model en yüksek performansına ulaşmıştır. Bu durumda model %94.20 accuracy ve 0.9776 ROC-AUC değeri elde ederek tüm deneyler arasında en başarılı sonuçları vermiştir.</a:t>
            </a:r>
          </a:p>
          <a:p>
            <a:pPr marL="438911" indent="-438911" defTabSz="438911">
              <a:spcBef>
                <a:spcPts val="1100"/>
              </a:spcBef>
              <a:defRPr sz="3839">
                <a:latin typeface="Graphik"/>
                <a:ea typeface="Graphik"/>
                <a:cs typeface="Graphik"/>
                <a:sym typeface="Graphik"/>
              </a:defRPr>
            </a:pPr>
            <a:r>
              <a:t>PCA (n=8) uygulandığında modelin performansı belirgin şekilde düşmüş, accuracy %78.02 ve ROC-AUC 0.8341 seviyesine gerilemiştir. Bu durum PCA’nın önemli bilgileri kaybettirdiğini göstermektedir.</a:t>
            </a:r>
          </a:p>
          <a:p>
            <a:pPr marL="438911" indent="-438911" defTabSz="438911">
              <a:spcBef>
                <a:spcPts val="1100"/>
              </a:spcBef>
              <a:defRPr sz="3839">
                <a:latin typeface="Graphik"/>
                <a:ea typeface="Graphik"/>
                <a:cs typeface="Graphik"/>
                <a:sym typeface="Graphik"/>
              </a:defRPr>
            </a:pPr>
            <a:r>
              <a:t>LDA uygulandığında model %70.86 accuracy ve 0.7640 ROC-AUC elde etmiştir. Tek bileşenli temsil, modelin sınıfları ayırt etme gücünü önemli ölçüde azaltmıştır.</a:t>
            </a:r>
          </a:p>
          <a:p>
            <a:pPr marL="438911" indent="-438911" defTabSz="438911">
              <a:spcBef>
                <a:spcPts val="1100"/>
              </a:spcBef>
              <a:defRPr sz="3839">
                <a:latin typeface="Graphik"/>
                <a:ea typeface="Graphik"/>
                <a:cs typeface="Graphik"/>
                <a:sym typeface="Graphik"/>
              </a:defRPr>
            </a:pPr>
            <a:r>
              <a:t>Hiperparametre optimizasyonu sürecinde ağaç sayısı, örnekleme oranları ve ağaç derinliği ayarlanarak modelin genelleme kabiliyeti artırılmış ve overfitting azaltılmıştır. Feature selection ile birlikte kullanıldığında model en kararlı ve yüksek performanslı yapıya ulaşmıştır.</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Best Model 2: HistGradientBoost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rPr>
                <a:latin typeface="Produkt Light"/>
                <a:ea typeface="Produkt Light"/>
                <a:cs typeface="Produkt Light"/>
                <a:sym typeface="Produkt Light"/>
              </a:rPr>
              <a:t>Best Model 2: </a:t>
            </a:r>
            <a:r>
              <a:t>HistGradientBoosting</a:t>
            </a:r>
          </a:p>
        </p:txBody>
      </p:sp>
      <p:sp>
        <p:nvSpPr>
          <p:cNvPr id="208" name="Su Atıklarındaki Grip Sınıflandırma"/>
          <p:cNvSpPr txBox="1"/>
          <p:nvPr>
            <p:ph type="title"/>
          </p:nvPr>
        </p:nvSpPr>
        <p:spPr>
          <a:prstGeom prst="rect">
            <a:avLst/>
          </a:prstGeom>
        </p:spPr>
        <p:txBody>
          <a:bodyPr/>
          <a:lstStyle>
            <a:lvl1pPr defTabSz="2316479">
              <a:defRPr spc="-95" sz="9500">
                <a:latin typeface="Produkt Medium"/>
                <a:ea typeface="Produkt Medium"/>
                <a:cs typeface="Produkt Medium"/>
                <a:sym typeface="Produkt Medium"/>
              </a:defRPr>
            </a:lvl1pPr>
          </a:lstStyle>
          <a:p>
            <a:pPr/>
            <a:r>
              <a:t>Su Atıklarındaki Grip Sınıflandırma</a:t>
            </a:r>
          </a:p>
        </p:txBody>
      </p:sp>
      <p:sp>
        <p:nvSpPr>
          <p:cNvPr id="209" name="Model Geliştirilirken Kullanılan Yaklaşımlar: HistGradientBoosting modeli, histogram tabanlı gradient boosting yaklaşımı ile eğitilmiştir. Bu yöntem sayesinde büyük veri setlerinde daha hızlı ve verimli öğrenme sağlanmıştır. Modelin aşırı öğrenmesini önl"/>
          <p:cNvSpPr txBox="1"/>
          <p:nvPr>
            <p:ph type="body" idx="1"/>
          </p:nvPr>
        </p:nvSpPr>
        <p:spPr>
          <a:prstGeom prst="rect">
            <a:avLst/>
          </a:prstGeom>
        </p:spPr>
        <p:txBody>
          <a:bodyPr/>
          <a:lstStyle/>
          <a:p>
            <a:pPr algn="just"/>
            <a:r>
              <a:rPr b="1">
                <a:latin typeface="Graphik"/>
                <a:ea typeface="Graphik"/>
                <a:cs typeface="Graphik"/>
                <a:sym typeface="Graphik"/>
              </a:rPr>
              <a:t>Model Geliştirilirken Kullanılan Yaklaşımlar: </a:t>
            </a:r>
            <a:r>
              <a:t>HistGradientBoosting modeli, histogram tabanlı gradient boosting yaklaşımı ile eğitilmiştir. Bu yöntem sayesinde büyük veri setlerinde daha hızlı ve verimli öğrenme sağlanmıştır. Modelin aşırı öğrenmesini önlemek ve genelleme gücünü artırmak için çapraz doğrulama ve tuning adımları uygulanmıştır.</a:t>
            </a:r>
          </a:p>
          <a:p>
            <a:pPr algn="just"/>
            <a:r>
              <a:rPr b="1">
                <a:latin typeface="Graphik"/>
                <a:ea typeface="Graphik"/>
                <a:cs typeface="Graphik"/>
                <a:sym typeface="Graphik"/>
              </a:rPr>
              <a:t>Hyper Parametreler:</a:t>
            </a:r>
            <a:r>
              <a:t> Model için öğrenme oranı (learning_rate), maksimum ağaç derinliği (max_depth), iterasyon sayısı (max_iter) ve yapraklardaki minimum örnek sayısı (min_samples_leaf) RandomizedSearchCV kullanılarak optimize edilmiştir. En iyi parametreler ROC-AUC metriğine göre seçilmiştir.</a:t>
            </a:r>
          </a:p>
          <a:p>
            <a:pPr algn="just"/>
            <a:r>
              <a:rPr b="1">
                <a:latin typeface="Graphik"/>
                <a:ea typeface="Graphik"/>
                <a:cs typeface="Graphik"/>
                <a:sym typeface="Graphik"/>
              </a:rPr>
              <a:t>Feature Set: </a:t>
            </a:r>
            <a:r>
              <a:t>[sewershed_id, lod_sewage, pcr_target_avg_conc_lin, pcr_target_flowpop_lin, collection_week, log_flow_rate, jurisdiction_positive_count, log_pop_sq]</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Best Model 2: HistGradientBoost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rPr>
                <a:latin typeface="Produkt Light"/>
                <a:ea typeface="Produkt Light"/>
                <a:cs typeface="Produkt Light"/>
                <a:sym typeface="Produkt Light"/>
              </a:rPr>
              <a:t>Best Model 2: </a:t>
            </a:r>
            <a:r>
              <a:t>HistGradientBoosting </a:t>
            </a:r>
          </a:p>
        </p:txBody>
      </p:sp>
      <p:sp>
        <p:nvSpPr>
          <p:cNvPr id="212" name="Su Atıklarındaki Grip Sınıflandırma"/>
          <p:cNvSpPr txBox="1"/>
          <p:nvPr>
            <p:ph type="title"/>
          </p:nvPr>
        </p:nvSpPr>
        <p:spPr>
          <a:prstGeom prst="rect">
            <a:avLst/>
          </a:prstGeom>
        </p:spPr>
        <p:txBody>
          <a:bodyPr/>
          <a:lstStyle>
            <a:lvl1pPr defTabSz="2316479">
              <a:defRPr spc="-95" sz="9500">
                <a:latin typeface="Produkt Medium"/>
                <a:ea typeface="Produkt Medium"/>
                <a:cs typeface="Produkt Medium"/>
                <a:sym typeface="Produkt Medium"/>
              </a:defRPr>
            </a:lvl1pPr>
          </a:lstStyle>
          <a:p>
            <a:pPr/>
            <a:r>
              <a:t>Su Atıklarındaki Grip Sınıflandırma</a:t>
            </a:r>
          </a:p>
        </p:txBody>
      </p:sp>
      <p:sp>
        <p:nvSpPr>
          <p:cNvPr id="213" name="PCA ve LDA kullanılmadan, SelectFromModel ile seçilen özellikler üzerinde model %87.84 accuracy ve 0.9679 ROC-AUC değerine ulaşmıştır. Performans güçlü olmakla birlikte Bagging tabanlı modele kıyasla daha sınırlı kalmıştır.…"/>
          <p:cNvSpPr txBox="1"/>
          <p:nvPr>
            <p:ph type="body" idx="1"/>
          </p:nvPr>
        </p:nvSpPr>
        <p:spPr>
          <a:prstGeom prst="rect">
            <a:avLst/>
          </a:prstGeom>
        </p:spPr>
        <p:txBody>
          <a:bodyPr/>
          <a:lstStyle/>
          <a:p>
            <a:pPr marL="429768" indent="-429768" algn="just" defTabSz="429768">
              <a:spcBef>
                <a:spcPts val="1100"/>
              </a:spcBef>
              <a:defRPr sz="3759">
                <a:latin typeface="Graphik"/>
                <a:ea typeface="Graphik"/>
                <a:cs typeface="Graphik"/>
                <a:sym typeface="Graphik"/>
              </a:defRPr>
            </a:pPr>
            <a:r>
              <a:t>PCA ve LDA kullanılmadan, SelectFromModel ile seçilen özellikler üzerinde model %87.84 accuracy ve 0.9679 ROC-AUC değerine ulaşmıştır. Performans güçlü olmakla birlikte Bagging tabanlı modele kıyasla daha sınırlı kalmıştır.</a:t>
            </a:r>
          </a:p>
          <a:p>
            <a:pPr marL="429768" indent="-429768" algn="just" defTabSz="429768">
              <a:spcBef>
                <a:spcPts val="1100"/>
              </a:spcBef>
              <a:defRPr sz="3759">
                <a:latin typeface="Graphik"/>
                <a:ea typeface="Graphik"/>
                <a:cs typeface="Graphik"/>
                <a:sym typeface="Graphik"/>
              </a:defRPr>
            </a:pPr>
            <a:r>
              <a:t>PCA (n=8) uygulandığında modelin accuracy değeri %78.12’ye, ROC-AUC değeri ise 0.8328’e düşmüştür. PCA sonrası performans kaybı, modelin orijinal feature yapısına daha duyarlı olduğunu göstermektedir.</a:t>
            </a:r>
          </a:p>
          <a:p>
            <a:pPr marL="429768" indent="-429768" algn="just" defTabSz="429768">
              <a:spcBef>
                <a:spcPts val="1100"/>
              </a:spcBef>
              <a:defRPr sz="3759">
                <a:latin typeface="Graphik"/>
                <a:ea typeface="Graphik"/>
                <a:cs typeface="Graphik"/>
                <a:sym typeface="Graphik"/>
              </a:defRPr>
            </a:pPr>
            <a:r>
              <a:t>LDA uygulandığında model %71.07 accuracy ve 0.7648 ROC-AUC elde etmiştir. Boyutun tek bileşene düşmesi, modelin sınıflar arasındaki ayrımı yeterince yakalayamamasına neden olmuştur.</a:t>
            </a:r>
          </a:p>
          <a:p>
            <a:pPr marL="429768" indent="-429768" algn="just" defTabSz="429768">
              <a:spcBef>
                <a:spcPts val="1100"/>
              </a:spcBef>
              <a:defRPr sz="3759">
                <a:latin typeface="Graphik"/>
                <a:ea typeface="Graphik"/>
                <a:cs typeface="Graphik"/>
                <a:sym typeface="Graphik"/>
              </a:defRPr>
            </a:pPr>
            <a:r>
              <a:t>Hiperparametre tuning sürecinde learning rate, ağaç derinliği ve minimum yaprak örnek sayısı optimize edilerek modelin daha dengeli öğrenmesi sağlanmıştır. Ancak feature selection sonrası elde edilen performans, Bagging tabanlı modele kıyasla daha düşük kalmıştır.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Modellerin Karşılaştırıldığı Tablo"/>
          <p:cNvSpPr txBox="1"/>
          <p:nvPr>
            <p:ph type="body" idx="21"/>
          </p:nvPr>
        </p:nvSpPr>
        <p:spPr>
          <a:xfrm>
            <a:off x="1206500" y="570537"/>
            <a:ext cx="21971000" cy="1003301"/>
          </a:xfrm>
          <a:prstGeom prst="rect">
            <a:avLst/>
          </a:prstGeom>
          <a:extLst>
            <a:ext uri="{C572A759-6A51-4108-AA02-DFA0A04FC94B}">
              <ma14:wrappingTextBoxFlag xmlns:ma14="http://schemas.microsoft.com/office/mac/drawingml/2011/main" val="1"/>
            </a:ext>
          </a:extLst>
        </p:spPr>
        <p:txBody>
          <a:bodyPr/>
          <a:lstStyle/>
          <a:p>
            <a:pPr/>
            <a:r>
              <a:t>Modellerin Karşılaştırıldığı Tablo</a:t>
            </a:r>
          </a:p>
        </p:txBody>
      </p:sp>
      <p:graphicFrame>
        <p:nvGraphicFramePr>
          <p:cNvPr id="216" name="Tablo 1"/>
          <p:cNvGraphicFramePr/>
          <p:nvPr/>
        </p:nvGraphicFramePr>
        <p:xfrm>
          <a:off x="793842" y="1675076"/>
          <a:ext cx="23230042" cy="12013859"/>
        </p:xfrm>
        <a:graphic xmlns:a="http://schemas.openxmlformats.org/drawingml/2006/main">
          <a:graphicData uri="http://schemas.openxmlformats.org/drawingml/2006/table">
            <a:tbl>
              <a:tblPr firstCol="1" firstRow="1" lastCol="0" lastRow="0" bandCol="0" bandRow="0" rtl="0">
                <a:tableStyleId>{C7B018BB-80A7-4F77-B60F-C8B233D01FF8}</a:tableStyleId>
              </a:tblPr>
              <a:tblGrid>
                <a:gridCol w="4643468"/>
                <a:gridCol w="4643468"/>
                <a:gridCol w="4643468"/>
                <a:gridCol w="4643468"/>
                <a:gridCol w="4643468"/>
              </a:tblGrid>
              <a:tr h="860765">
                <a:tc>
                  <a:txBody>
                    <a:bodyPr/>
                    <a:lstStyle/>
                    <a:p>
                      <a:pPr algn="ctr" defTabSz="914400">
                        <a:defRPr b="0" sz="1800"/>
                      </a:pPr>
                      <a:r>
                        <a:rPr sz="3200">
                          <a:sym typeface="Graphik Semibold"/>
                        </a:rPr>
                        <a:t>Horizon</a:t>
                      </a:r>
                    </a:p>
                  </a:txBody>
                  <a:tcPr marL="50800" marR="50800" marT="50800" marB="50800" anchor="ctr" anchorCtr="0" horzOverflow="overflow"/>
                </a:tc>
                <a:tc>
                  <a:txBody>
                    <a:bodyPr/>
                    <a:lstStyle/>
                    <a:p>
                      <a:pPr algn="ctr" defTabSz="914400">
                        <a:defRPr b="0" sz="1800"/>
                      </a:pPr>
                      <a:r>
                        <a:rPr sz="3200">
                          <a:sym typeface="Graphik Semibold"/>
                        </a:rPr>
                        <a:t>F1 Score</a:t>
                      </a:r>
                    </a:p>
                  </a:txBody>
                  <a:tcPr marL="50800" marR="50800" marT="50800" marB="50800" anchor="ctr" anchorCtr="0" horzOverflow="overflow"/>
                </a:tc>
                <a:tc>
                  <a:txBody>
                    <a:bodyPr/>
                    <a:lstStyle/>
                    <a:p>
                      <a:pPr algn="ctr" defTabSz="914400">
                        <a:defRPr b="0" sz="1800"/>
                      </a:pPr>
                      <a:r>
                        <a:rPr sz="3200">
                          <a:sym typeface="Graphik Semibold"/>
                        </a:rPr>
                        <a:t>ROC AUC</a:t>
                      </a:r>
                    </a:p>
                  </a:txBody>
                  <a:tcPr marL="50800" marR="50800" marT="50800" marB="50800" anchor="ctr" anchorCtr="0" horzOverflow="overflow"/>
                </a:tc>
                <a:tc>
                  <a:txBody>
                    <a:bodyPr/>
                    <a:lstStyle/>
                    <a:p>
                      <a:pPr algn="ctr" defTabSz="914400">
                        <a:defRPr b="0" sz="1800"/>
                      </a:pPr>
                      <a:r>
                        <a:rPr sz="3200">
                          <a:sym typeface="Graphik Semibold"/>
                        </a:rPr>
                        <a:t>PR AUC</a:t>
                      </a:r>
                    </a:p>
                  </a:txBody>
                  <a:tcPr marL="50800" marR="50800" marT="50800" marB="50800" anchor="ctr" anchorCtr="0" horzOverflow="overflow"/>
                </a:tc>
                <a:tc>
                  <a:txBody>
                    <a:bodyPr/>
                    <a:lstStyle/>
                    <a:p>
                      <a:pPr algn="ctr" defTabSz="914400">
                        <a:defRPr b="0" sz="1800"/>
                      </a:pPr>
                      <a:r>
                        <a:rPr sz="3200">
                          <a:sym typeface="Graphik Semibold"/>
                        </a:rPr>
                        <a:t>IBS</a:t>
                      </a:r>
                    </a:p>
                  </a:txBody>
                  <a:tcPr marL="50800" marR="50800" marT="50800" marB="50800" anchor="ctr" anchorCtr="0" horzOverflow="overflow"/>
                </a:tc>
              </a:tr>
              <a:tr h="5412541">
                <a:tc>
                  <a:txBody>
                    <a:bodyPr/>
                    <a:lstStyle/>
                    <a:p>
                      <a:pPr algn="ctr" defTabSz="914400">
                        <a:defRPr b="0" sz="1800"/>
                      </a:pPr>
                      <a:r>
                        <a:rPr sz="3200">
                          <a:sym typeface="Graphik Semibold"/>
                        </a:rPr>
                        <a:t>Grip Yok(0)</a:t>
                      </a:r>
                    </a:p>
                  </a:txBody>
                  <a:tcPr marL="50800" marR="50800" marT="50800" marB="50800" anchor="ctr" anchorCtr="0" horzOverflow="overflow"/>
                </a:tc>
                <a:tc>
                  <a:txBody>
                    <a:bodyPr/>
                    <a:lstStyle/>
                    <a:p>
                      <a:pPr algn="l" defTabSz="457200">
                        <a:defRPr sz="1800"/>
                      </a:pPr>
                      <a:r>
                        <a:rPr sz="1700">
                          <a:solidFill>
                            <a:srgbClr val="000000">
                              <a:alpha val="87059"/>
                            </a:srgbClr>
                          </a:solidFill>
                        </a:rPr>
                        <a:t>LogisticRegression (Base): 0.9175
BaggingClassifier_Tuned (Tuned): 0.8726
HistGradientBoosting (Default): 0.8716
HistGradientBoosting_Tuned (Tuned): 0.8713
BaggingClassifier (Default): 0.8638
Gradient Boosting (Tuned): 0.8423
MLP C. (Default): 0.8395
ExtraTrees (Tuned): 0.8356
CatBoost (Default): 0.8339
FT-Transformer (Tuned): 0.8244
Wide &amp; Deep (Tuned): 0.8182
Linear Regression (Default): 0.8170
AdaBoost (Default): 0.8072
KNN (Base): 0.7903
SGD (Weighted): 0.7798
SGD (Base): 0.7754
DT (Base): 0.7693
Naive Bayes (Base): 0.6613
</a:t>
                      </a:r>
                    </a:p>
                  </a:txBody>
                  <a:tcPr marL="50800" marR="50800" marT="50800" marB="50800" anchor="ctr" anchorCtr="0" horzOverflow="overflow"/>
                </a:tc>
                <a:tc>
                  <a:txBody>
                    <a:bodyPr/>
                    <a:lstStyle/>
                    <a:p>
                      <a:pPr algn="l" defTabSz="457200">
                        <a:defRPr sz="1600">
                          <a:solidFill>
                            <a:srgbClr val="000000">
                              <a:alpha val="87059"/>
                            </a:srgbClr>
                          </a:solidFill>
                        </a:defRPr>
                      </a:pPr>
                      <a:r>
                        <a:t>HistGradientBoosting_Tuned (Tuned): 0.971860</a:t>
                      </a:r>
                    </a:p>
                    <a:p>
                      <a:pPr algn="l" defTabSz="457200">
                        <a:defRPr sz="1600">
                          <a:solidFill>
                            <a:srgbClr val="000000">
                              <a:alpha val="87059"/>
                            </a:srgbClr>
                          </a:solidFill>
                        </a:defRPr>
                      </a:pPr>
                      <a:r>
                        <a:t>HistGradientBoosting (Default): 0.971828</a:t>
                      </a:r>
                    </a:p>
                    <a:p>
                      <a:pPr algn="l" defTabSz="457200">
                        <a:defRPr sz="1600">
                          <a:solidFill>
                            <a:srgbClr val="000000">
                              <a:alpha val="87059"/>
                            </a:srgbClr>
                          </a:solidFill>
                        </a:defRPr>
                      </a:pPr>
                      <a:r>
                        <a:t>LogisticRegression (Base): 0.968998</a:t>
                      </a:r>
                    </a:p>
                    <a:p>
                      <a:pPr algn="l" defTabSz="457200">
                        <a:defRPr sz="1600">
                          <a:solidFill>
                            <a:srgbClr val="000000">
                              <a:alpha val="87059"/>
                            </a:srgbClr>
                          </a:solidFill>
                        </a:defRPr>
                      </a:pPr>
                      <a:r>
                        <a:t>BaggingClassifier_Tuned (Tuned): 0.959527</a:t>
                      </a:r>
                    </a:p>
                    <a:p>
                      <a:pPr algn="l" defTabSz="457200">
                        <a:defRPr sz="1600">
                          <a:solidFill>
                            <a:srgbClr val="000000">
                              <a:alpha val="87059"/>
                            </a:srgbClr>
                          </a:solidFill>
                        </a:defRPr>
                      </a:pPr>
                      <a:r>
                        <a:t>BaggingClassifier (Default): 0.932705</a:t>
                      </a:r>
                    </a:p>
                    <a:p>
                      <a:pPr algn="l" defTabSz="457200">
                        <a:defRPr sz="1600">
                          <a:solidFill>
                            <a:srgbClr val="000000">
                              <a:alpha val="87059"/>
                            </a:srgbClr>
                          </a:solidFill>
                        </a:defRPr>
                      </a:pPr>
                      <a:r>
                        <a:t>Gradient Boosting (Tuned): 0.8756</a:t>
                      </a:r>
                    </a:p>
                    <a:p>
                      <a:pPr algn="l" defTabSz="457200">
                        <a:defRPr sz="1600">
                          <a:solidFill>
                            <a:srgbClr val="000000">
                              <a:alpha val="87059"/>
                            </a:srgbClr>
                          </a:solidFill>
                        </a:defRPr>
                      </a:pPr>
                      <a:r>
                        <a:t>MLP C. (Default): 0.8733</a:t>
                      </a:r>
                    </a:p>
                    <a:p>
                      <a:pPr algn="l" defTabSz="457200">
                        <a:defRPr sz="1600">
                          <a:solidFill>
                            <a:srgbClr val="000000">
                              <a:alpha val="87059"/>
                            </a:srgbClr>
                          </a:solidFill>
                        </a:defRPr>
                      </a:pPr>
                      <a:r>
                        <a:t>CatBoost (Default): 0.8719</a:t>
                      </a:r>
                    </a:p>
                    <a:p>
                      <a:pPr algn="l" defTabSz="457200">
                        <a:defRPr sz="1600">
                          <a:solidFill>
                            <a:srgbClr val="000000">
                              <a:alpha val="87059"/>
                            </a:srgbClr>
                          </a:solidFill>
                        </a:defRPr>
                      </a:pPr>
                      <a:r>
                        <a:t>ExtraTrees (Tuned): 0.8689</a:t>
                      </a:r>
                    </a:p>
                    <a:p>
                      <a:pPr algn="l" defTabSz="457200">
                        <a:defRPr sz="1600">
                          <a:solidFill>
                            <a:srgbClr val="000000">
                              <a:alpha val="87059"/>
                            </a:srgbClr>
                          </a:solidFill>
                        </a:defRPr>
                      </a:pPr>
                      <a:r>
                        <a:t>FT-Transformer (Tuned): 0.8536</a:t>
                      </a:r>
                    </a:p>
                    <a:p>
                      <a:pPr algn="l" defTabSz="457200">
                        <a:defRPr sz="1600">
                          <a:solidFill>
                            <a:srgbClr val="000000">
                              <a:alpha val="87059"/>
                            </a:srgbClr>
                          </a:solidFill>
                        </a:defRPr>
                      </a:pPr>
                      <a:r>
                        <a:t>Wide &amp; Deep (Tuned): 0.8479</a:t>
                      </a:r>
                    </a:p>
                    <a:p>
                      <a:pPr algn="l" defTabSz="457200">
                        <a:defRPr sz="1600">
                          <a:solidFill>
                            <a:srgbClr val="000000">
                              <a:alpha val="87059"/>
                            </a:srgbClr>
                          </a:solidFill>
                        </a:defRPr>
                      </a:pPr>
                      <a:r>
                        <a:t>Linear Regresyon (Default): 0.8327</a:t>
                      </a:r>
                    </a:p>
                    <a:p>
                      <a:pPr algn="l" defTabSz="457200">
                        <a:defRPr sz="1600">
                          <a:solidFill>
                            <a:srgbClr val="000000">
                              <a:alpha val="87059"/>
                            </a:srgbClr>
                          </a:solidFill>
                        </a:defRPr>
                      </a:pPr>
                      <a:r>
                        <a:t>AdaBoost (Default): 0.8268</a:t>
                      </a:r>
                    </a:p>
                    <a:p>
                      <a:pPr algn="l" defTabSz="457200">
                        <a:defRPr sz="1600">
                          <a:solidFill>
                            <a:srgbClr val="000000">
                              <a:alpha val="87059"/>
                            </a:srgbClr>
                          </a:solidFill>
                        </a:defRPr>
                      </a:pPr>
                      <a:r>
                        <a:t>SGD (Base): 0.8078</a:t>
                      </a:r>
                    </a:p>
                    <a:p>
                      <a:pPr algn="l" defTabSz="457200">
                        <a:defRPr sz="1600">
                          <a:solidFill>
                            <a:srgbClr val="000000">
                              <a:alpha val="87059"/>
                            </a:srgbClr>
                          </a:solidFill>
                        </a:defRPr>
                      </a:pPr>
                      <a:r>
                        <a:t>SGD (Weighted): 0.7994</a:t>
                      </a:r>
                    </a:p>
                    <a:p>
                      <a:pPr algn="l" defTabSz="457200">
                        <a:defRPr sz="1600">
                          <a:solidFill>
                            <a:srgbClr val="000000">
                              <a:alpha val="87059"/>
                            </a:srgbClr>
                          </a:solidFill>
                        </a:defRPr>
                      </a:pPr>
                      <a:r>
                        <a:t>KNN (Base): 0.781875</a:t>
                      </a:r>
                    </a:p>
                    <a:p>
                      <a:pPr algn="l" defTabSz="457200">
                        <a:defRPr sz="1600">
                          <a:solidFill>
                            <a:srgbClr val="000000">
                              <a:alpha val="87059"/>
                            </a:srgbClr>
                          </a:solidFill>
                        </a:defRPr>
                      </a:pPr>
                      <a:r>
                        <a:t>Naive Bayes (Base): 0.7543</a:t>
                      </a:r>
                    </a:p>
                    <a:p>
                      <a:pPr algn="l" defTabSz="457200">
                        <a:defRPr sz="1700">
                          <a:solidFill>
                            <a:srgbClr val="000000">
                              <a:alpha val="87059"/>
                            </a:srgbClr>
                          </a:solidFill>
                        </a:defRPr>
                      </a:pPr>
                      <a:r>
                        <a:t>DT (Base): 0.7315</a:t>
                      </a:r>
                    </a:p>
                  </a:txBody>
                  <a:tcPr marL="50800" marR="50800" marT="50800" marB="50800" anchor="ctr" anchorCtr="0" horzOverflow="overflow"/>
                </a:tc>
                <a:tc>
                  <a:txBody>
                    <a:bodyPr/>
                    <a:lstStyle/>
                    <a:p>
                      <a:pPr algn="l" defTabSz="457200">
                        <a:defRPr sz="1600">
                          <a:solidFill>
                            <a:srgbClr val="000000">
                              <a:alpha val="87059"/>
                            </a:srgbClr>
                          </a:solidFill>
                        </a:defRPr>
                      </a:pPr>
                      <a:r>
                        <a:t>HistGradientBoosting_Tuned (Tuned): 0.971860</a:t>
                      </a:r>
                    </a:p>
                    <a:p>
                      <a:pPr algn="l" defTabSz="457200">
                        <a:defRPr sz="1600">
                          <a:solidFill>
                            <a:srgbClr val="000000">
                              <a:alpha val="87059"/>
                            </a:srgbClr>
                          </a:solidFill>
                        </a:defRPr>
                      </a:pPr>
                      <a:r>
                        <a:t>HistGradientBoosting (Default): 0.971828</a:t>
                      </a:r>
                    </a:p>
                    <a:p>
                      <a:pPr algn="l" defTabSz="457200">
                        <a:defRPr sz="1600">
                          <a:solidFill>
                            <a:srgbClr val="000000">
                              <a:alpha val="87059"/>
                            </a:srgbClr>
                          </a:solidFill>
                        </a:defRPr>
                      </a:pPr>
                      <a:r>
                        <a:t>LogisticRegression (Base): 0.968998</a:t>
                      </a:r>
                    </a:p>
                    <a:p>
                      <a:pPr algn="l" defTabSz="457200">
                        <a:defRPr sz="1600">
                          <a:solidFill>
                            <a:srgbClr val="000000">
                              <a:alpha val="87059"/>
                            </a:srgbClr>
                          </a:solidFill>
                        </a:defRPr>
                      </a:pPr>
                      <a:r>
                        <a:t>BaggingClassifier_Tuned (Tuned): 0.959527</a:t>
                      </a:r>
                    </a:p>
                    <a:p>
                      <a:pPr algn="l" defTabSz="457200">
                        <a:defRPr sz="1600">
                          <a:solidFill>
                            <a:srgbClr val="000000">
                              <a:alpha val="87059"/>
                            </a:srgbClr>
                          </a:solidFill>
                        </a:defRPr>
                      </a:pPr>
                      <a:r>
                        <a:t>BaggingClassifier (Default): 0.950049</a:t>
                      </a:r>
                    </a:p>
                    <a:p>
                      <a:pPr algn="l" defTabSz="457200">
                        <a:defRPr sz="1600">
                          <a:solidFill>
                            <a:srgbClr val="000000">
                              <a:alpha val="87059"/>
                            </a:srgbClr>
                          </a:solidFill>
                        </a:defRPr>
                      </a:pPr>
                      <a:r>
                        <a:t>FT-Transformer (Tuned): 0.8716</a:t>
                      </a:r>
                    </a:p>
                    <a:p>
                      <a:pPr algn="l" defTabSz="457200">
                        <a:defRPr sz="1600">
                          <a:solidFill>
                            <a:srgbClr val="000000">
                              <a:alpha val="87059"/>
                            </a:srgbClr>
                          </a:solidFill>
                        </a:defRPr>
                      </a:pPr>
                      <a:r>
                        <a:t>Wide &amp; Deep (Tuned): 0.8667</a:t>
                      </a:r>
                    </a:p>
                    <a:p>
                      <a:pPr algn="l" defTabSz="457200">
                        <a:defRPr sz="1600">
                          <a:solidFill>
                            <a:srgbClr val="000000">
                              <a:alpha val="87059"/>
                            </a:srgbClr>
                          </a:solidFill>
                        </a:defRPr>
                      </a:pPr>
                      <a:r>
                        <a:t>Gradient Boosting (Tuned): 0.8585</a:t>
                      </a:r>
                    </a:p>
                    <a:p>
                      <a:pPr algn="l" defTabSz="457200">
                        <a:defRPr sz="1600">
                          <a:solidFill>
                            <a:srgbClr val="000000">
                              <a:alpha val="87059"/>
                            </a:srgbClr>
                          </a:solidFill>
                        </a:defRPr>
                      </a:pPr>
                      <a:r>
                        <a:t>MLP C. (Default): 0.8544</a:t>
                      </a:r>
                    </a:p>
                    <a:p>
                      <a:pPr algn="l" defTabSz="457200">
                        <a:defRPr sz="1600">
                          <a:solidFill>
                            <a:srgbClr val="000000">
                              <a:alpha val="87059"/>
                            </a:srgbClr>
                          </a:solidFill>
                        </a:defRPr>
                      </a:pPr>
                      <a:r>
                        <a:t>CatBoost (Default): 0.8474</a:t>
                      </a:r>
                    </a:p>
                    <a:p>
                      <a:pPr algn="l" defTabSz="457200">
                        <a:defRPr sz="1600">
                          <a:solidFill>
                            <a:srgbClr val="000000">
                              <a:alpha val="87059"/>
                            </a:srgbClr>
                          </a:solidFill>
                        </a:defRPr>
                      </a:pPr>
                      <a:r>
                        <a:t>ExtraTrees (Tuned): 0.8353</a:t>
                      </a:r>
                    </a:p>
                    <a:p>
                      <a:pPr algn="l" defTabSz="457200">
                        <a:defRPr sz="1600">
                          <a:solidFill>
                            <a:srgbClr val="000000">
                              <a:alpha val="87059"/>
                            </a:srgbClr>
                          </a:solidFill>
                        </a:defRPr>
                      </a:pPr>
                      <a:r>
                        <a:t>SGD (Base): 0.8269</a:t>
                      </a:r>
                    </a:p>
                    <a:p>
                      <a:pPr algn="l" defTabSz="457200">
                        <a:defRPr sz="1600">
                          <a:solidFill>
                            <a:srgbClr val="000000">
                              <a:alpha val="87059"/>
                            </a:srgbClr>
                          </a:solidFill>
                        </a:defRPr>
                      </a:pPr>
                      <a:r>
                        <a:t>Linear Regresyon (Default): 0.8051</a:t>
                      </a:r>
                    </a:p>
                    <a:p>
                      <a:pPr algn="l" defTabSz="457200">
                        <a:defRPr sz="1600">
                          <a:solidFill>
                            <a:srgbClr val="000000">
                              <a:alpha val="87059"/>
                            </a:srgbClr>
                          </a:solidFill>
                        </a:defRPr>
                      </a:pPr>
                      <a:r>
                        <a:t>KNN (Base): 0.781875</a:t>
                      </a:r>
                    </a:p>
                    <a:p>
                      <a:pPr algn="l" defTabSz="457200">
                        <a:defRPr sz="1600">
                          <a:solidFill>
                            <a:srgbClr val="000000">
                              <a:alpha val="87059"/>
                            </a:srgbClr>
                          </a:solidFill>
                        </a:defRPr>
                      </a:pPr>
                      <a:r>
                        <a:t>AdaBoost (Default): 0.7775</a:t>
                      </a:r>
                    </a:p>
                    <a:p>
                      <a:pPr algn="l" defTabSz="457200">
                        <a:defRPr sz="1600">
                          <a:solidFill>
                            <a:srgbClr val="000000">
                              <a:alpha val="87059"/>
                            </a:srgbClr>
                          </a:solidFill>
                        </a:defRPr>
                      </a:pPr>
                      <a:r>
                        <a:t>DT (Base): 0.7315</a:t>
                      </a:r>
                    </a:p>
                    <a:p>
                      <a:pPr algn="l" defTabSz="457200">
                        <a:defRPr sz="1600">
                          <a:solidFill>
                            <a:srgbClr val="000000">
                              <a:alpha val="87059"/>
                            </a:srgbClr>
                          </a:solidFill>
                        </a:defRPr>
                      </a:pPr>
                      <a:r>
                        <a:t>SGD (Weighted): 0.7487</a:t>
                      </a:r>
                    </a:p>
                    <a:p>
                      <a:pPr algn="l" defTabSz="457200">
                        <a:defRPr sz="1600">
                          <a:solidFill>
                            <a:srgbClr val="000000">
                              <a:alpha val="87059"/>
                            </a:srgbClr>
                          </a:solidFill>
                        </a:defRPr>
                      </a:pPr>
                      <a:r>
                        <a:t>Naive Bayes (Base): 0.7030</a:t>
                      </a:r>
                    </a:p>
                  </a:txBody>
                  <a:tcPr marL="50800" marR="50800" marT="50800" marB="50800" anchor="ctr" anchorCtr="0" horzOverflow="overflow"/>
                </a:tc>
                <a:tc>
                  <a:txBody>
                    <a:bodyPr/>
                    <a:lstStyle/>
                    <a:p>
                      <a:pPr algn="l" defTabSz="457200">
                        <a:defRPr sz="1600">
                          <a:solidFill>
                            <a:srgbClr val="000000">
                              <a:alpha val="87059"/>
                            </a:srgbClr>
                          </a:solidFill>
                        </a:defRPr>
                      </a:pPr>
                      <a:r>
                        <a:t>LogisticRegression (Base): 0.078830</a:t>
                      </a:r>
                    </a:p>
                    <a:p>
                      <a:pPr algn="l" defTabSz="457200">
                        <a:defRPr sz="1600">
                          <a:solidFill>
                            <a:srgbClr val="000000">
                              <a:alpha val="87059"/>
                            </a:srgbClr>
                          </a:solidFill>
                        </a:defRPr>
                      </a:pPr>
                      <a:r>
                        <a:t>BaggingClassifier (Default): 0.109590</a:t>
                      </a:r>
                    </a:p>
                    <a:p>
                      <a:pPr algn="l" defTabSz="457200">
                        <a:defRPr sz="1600">
                          <a:solidFill>
                            <a:srgbClr val="000000">
                              <a:alpha val="87059"/>
                            </a:srgbClr>
                          </a:solidFill>
                        </a:defRPr>
                      </a:pPr>
                      <a:r>
                        <a:t>BaggingClassifier_Tuned (Tuned): 0.114560</a:t>
                      </a:r>
                    </a:p>
                    <a:p>
                      <a:pPr algn="l" defTabSz="457200">
                        <a:defRPr sz="1600">
                          <a:solidFill>
                            <a:srgbClr val="000000">
                              <a:alpha val="87059"/>
                            </a:srgbClr>
                          </a:solidFill>
                        </a:defRPr>
                      </a:pPr>
                      <a:r>
                        <a:t>HistGradientBoosting (Default): 0.125071</a:t>
                      </a:r>
                    </a:p>
                    <a:p>
                      <a:pPr algn="l" defTabSz="457200">
                        <a:defRPr sz="1600">
                          <a:solidFill>
                            <a:srgbClr val="000000">
                              <a:alpha val="87059"/>
                            </a:srgbClr>
                          </a:solidFill>
                        </a:defRPr>
                      </a:pPr>
                      <a:r>
                        <a:t>HistGradientBoosting_Tuned (Tuned): 0.126685</a:t>
                      </a:r>
                    </a:p>
                    <a:p>
                      <a:pPr algn="l" defTabSz="457200">
                        <a:defRPr sz="1600">
                          <a:solidFill>
                            <a:srgbClr val="000000">
                              <a:alpha val="87059"/>
                            </a:srgbClr>
                          </a:solidFill>
                        </a:defRPr>
                      </a:pPr>
                      <a:r>
                        <a:t>Gradient Boosting (Tuned): 0.1364</a:t>
                      </a:r>
                    </a:p>
                    <a:p>
                      <a:pPr algn="l" defTabSz="457200">
                        <a:defRPr sz="1600">
                          <a:solidFill>
                            <a:srgbClr val="000000">
                              <a:alpha val="87059"/>
                            </a:srgbClr>
                          </a:solidFill>
                        </a:defRPr>
                      </a:pPr>
                      <a:r>
                        <a:t>MLP C. (Default): 0.1378</a:t>
                      </a:r>
                    </a:p>
                    <a:p>
                      <a:pPr algn="l" defTabSz="457200">
                        <a:defRPr sz="1600">
                          <a:solidFill>
                            <a:srgbClr val="000000">
                              <a:alpha val="87059"/>
                            </a:srgbClr>
                          </a:solidFill>
                        </a:defRPr>
                      </a:pPr>
                      <a:r>
                        <a:t>ExtraTrees (Tuned): 0.1409</a:t>
                      </a:r>
                    </a:p>
                    <a:p>
                      <a:pPr algn="l" defTabSz="457200">
                        <a:defRPr sz="1600">
                          <a:solidFill>
                            <a:srgbClr val="000000">
                              <a:alpha val="87059"/>
                            </a:srgbClr>
                          </a:solidFill>
                        </a:defRPr>
                      </a:pPr>
                      <a:r>
                        <a:t>CatBoost (Default): 0.1410</a:t>
                      </a:r>
                    </a:p>
                    <a:p>
                      <a:pPr algn="l" defTabSz="457200">
                        <a:defRPr sz="1600">
                          <a:solidFill>
                            <a:srgbClr val="000000">
                              <a:alpha val="87059"/>
                            </a:srgbClr>
                          </a:solidFill>
                        </a:defRPr>
                      </a:pPr>
                      <a:r>
                        <a:t>FT-Transformer (Tuned): 0.1505</a:t>
                      </a:r>
                    </a:p>
                    <a:p>
                      <a:pPr algn="l" defTabSz="457200">
                        <a:defRPr sz="1600">
                          <a:solidFill>
                            <a:srgbClr val="000000">
                              <a:alpha val="87059"/>
                            </a:srgbClr>
                          </a:solidFill>
                        </a:defRPr>
                      </a:pPr>
                      <a:r>
                        <a:t>Wide &amp; Deep (Tuned): 0.1533</a:t>
                      </a:r>
                    </a:p>
                    <a:p>
                      <a:pPr algn="l" defTabSz="457200">
                        <a:defRPr sz="1600">
                          <a:solidFill>
                            <a:srgbClr val="000000">
                              <a:alpha val="87059"/>
                            </a:srgbClr>
                          </a:solidFill>
                        </a:defRPr>
                      </a:pPr>
                      <a:r>
                        <a:t>Linear Regresyon (Default): 0.1605</a:t>
                      </a:r>
                    </a:p>
                    <a:p>
                      <a:pPr algn="l" defTabSz="457200">
                        <a:defRPr sz="1600">
                          <a:solidFill>
                            <a:srgbClr val="000000">
                              <a:alpha val="87059"/>
                            </a:srgbClr>
                          </a:solidFill>
                        </a:defRPr>
                      </a:pPr>
                      <a:r>
                        <a:t>SGD (Base): 0.1774</a:t>
                      </a:r>
                    </a:p>
                    <a:p>
                      <a:pPr algn="l" defTabSz="457200">
                        <a:defRPr sz="1600">
                          <a:solidFill>
                            <a:srgbClr val="000000">
                              <a:alpha val="87059"/>
                            </a:srgbClr>
                          </a:solidFill>
                        </a:defRPr>
                      </a:pPr>
                      <a:r>
                        <a:t>SGD (Weighted): 0.1786</a:t>
                      </a:r>
                    </a:p>
                    <a:p>
                      <a:pPr algn="l" defTabSz="457200">
                        <a:defRPr sz="1600">
                          <a:solidFill>
                            <a:srgbClr val="000000">
                              <a:alpha val="87059"/>
                            </a:srgbClr>
                          </a:solidFill>
                        </a:defRPr>
                      </a:pPr>
                      <a:r>
                        <a:t>KNN (Base): 0.187786</a:t>
                      </a:r>
                    </a:p>
                    <a:p>
                      <a:pPr algn="l" defTabSz="457200">
                        <a:defRPr sz="1600">
                          <a:solidFill>
                            <a:srgbClr val="000000">
                              <a:alpha val="87059"/>
                            </a:srgbClr>
                          </a:solidFill>
                        </a:defRPr>
                      </a:pPr>
                      <a:r>
                        <a:t>AdaBoost (Default): 0.2044</a:t>
                      </a:r>
                    </a:p>
                    <a:p>
                      <a:pPr algn="l" defTabSz="457200">
                        <a:defRPr sz="1600">
                          <a:solidFill>
                            <a:srgbClr val="000000">
                              <a:alpha val="87059"/>
                            </a:srgbClr>
                          </a:solidFill>
                        </a:defRPr>
                      </a:pPr>
                      <a:r>
                        <a:t>Naive Bayes (Base): 0.2366</a:t>
                      </a:r>
                    </a:p>
                    <a:p>
                      <a:pPr algn="l" defTabSz="457200">
                        <a:defRPr sz="1600">
                          <a:solidFill>
                            <a:srgbClr val="000000">
                              <a:alpha val="87059"/>
                            </a:srgbClr>
                          </a:solidFill>
                        </a:defRPr>
                      </a:pPr>
                      <a:r>
                        <a:t>DT (Base): 0.2613</a:t>
                      </a:r>
                    </a:p>
                  </a:txBody>
                  <a:tcPr marL="50800" marR="50800" marT="50800" marB="50800" anchor="ctr" anchorCtr="0" horzOverflow="overflow"/>
                </a:tc>
              </a:tr>
              <a:tr h="5727851">
                <a:tc>
                  <a:txBody>
                    <a:bodyPr/>
                    <a:lstStyle/>
                    <a:p>
                      <a:pPr algn="ctr" defTabSz="914400">
                        <a:defRPr b="0" sz="1800"/>
                      </a:pPr>
                      <a:r>
                        <a:rPr sz="3200">
                          <a:sym typeface="Graphik Semibold"/>
                        </a:rPr>
                        <a:t>Grip Var(1)</a:t>
                      </a:r>
                    </a:p>
                  </a:txBody>
                  <a:tcPr marL="50800" marR="50800" marT="50800" marB="50800" anchor="ctr" anchorCtr="0" horzOverflow="overflow"/>
                </a:tc>
                <a:tc>
                  <a:txBody>
                    <a:bodyPr/>
                    <a:lstStyle/>
                    <a:p>
                      <a:pPr algn="l" defTabSz="457200">
                        <a:defRPr sz="1700">
                          <a:solidFill>
                            <a:srgbClr val="000000">
                              <a:alpha val="87059"/>
                            </a:srgbClr>
                          </a:solidFill>
                        </a:defRPr>
                      </a:pPr>
                      <a:r>
                        <a:t>LogisticRegression (Base): 0.864956</a:t>
                      </a:r>
                    </a:p>
                    <a:p>
                      <a:pPr algn="l" defTabSz="457200">
                        <a:defRPr sz="1700">
                          <a:solidFill>
                            <a:srgbClr val="000000">
                              <a:alpha val="87059"/>
                            </a:srgbClr>
                          </a:solidFill>
                        </a:defRPr>
                      </a:pPr>
                      <a:r>
                        <a:t>HistGradientBoosting (Default): 0.856892</a:t>
                      </a:r>
                    </a:p>
                    <a:p>
                      <a:pPr algn="l" defTabSz="457200">
                        <a:defRPr sz="1700">
                          <a:solidFill>
                            <a:srgbClr val="000000">
                              <a:alpha val="87059"/>
                            </a:srgbClr>
                          </a:solidFill>
                        </a:defRPr>
                      </a:pPr>
                      <a:r>
                        <a:t>HistGradientBoosting_Tuned (Tuned): 0.855021</a:t>
                      </a:r>
                    </a:p>
                    <a:p>
                      <a:pPr algn="l" defTabSz="457200">
                        <a:defRPr sz="1700">
                          <a:solidFill>
                            <a:srgbClr val="000000">
                              <a:alpha val="87059"/>
                            </a:srgbClr>
                          </a:solidFill>
                        </a:defRPr>
                      </a:pPr>
                      <a:r>
                        <a:t>BaggingClassifier_Tuned (Tuned): 0.853732</a:t>
                      </a:r>
                    </a:p>
                    <a:p>
                      <a:pPr algn="l" defTabSz="457200">
                        <a:defRPr sz="1700">
                          <a:solidFill>
                            <a:srgbClr val="000000">
                              <a:alpha val="87059"/>
                            </a:srgbClr>
                          </a:solidFill>
                        </a:defRPr>
                      </a:pPr>
                      <a:r>
                        <a:t>BaggingClassifier (Default): 0.841297</a:t>
                      </a:r>
                    </a:p>
                    <a:p>
                      <a:pPr algn="l" defTabSz="457200">
                        <a:defRPr sz="1700">
                          <a:solidFill>
                            <a:srgbClr val="000000">
                              <a:alpha val="87059"/>
                            </a:srgbClr>
                          </a:solidFill>
                        </a:defRPr>
                      </a:pPr>
                      <a:r>
                        <a:t>ExtraTrees (Tuned): 0.7607ü</a:t>
                      </a:r>
                    </a:p>
                    <a:p>
                      <a:pPr algn="l" defTabSz="457200">
                        <a:defRPr sz="1700">
                          <a:solidFill>
                            <a:srgbClr val="000000">
                              <a:alpha val="87059"/>
                            </a:srgbClr>
                          </a:solidFill>
                        </a:defRPr>
                      </a:pPr>
                      <a:r>
                        <a:t>Gradient Boosting (Tuned): 0.7563</a:t>
                      </a:r>
                    </a:p>
                    <a:p>
                      <a:pPr algn="l" defTabSz="457200">
                        <a:defRPr sz="1700">
                          <a:solidFill>
                            <a:srgbClr val="000000">
                              <a:alpha val="87059"/>
                            </a:srgbClr>
                          </a:solidFill>
                        </a:defRPr>
                      </a:pPr>
                      <a:r>
                        <a:t>MLP C. (Default): 0.7549</a:t>
                      </a:r>
                    </a:p>
                    <a:p>
                      <a:pPr algn="l" defTabSz="457200">
                        <a:defRPr sz="1700">
                          <a:solidFill>
                            <a:srgbClr val="000000">
                              <a:alpha val="87059"/>
                            </a:srgbClr>
                          </a:solidFill>
                        </a:defRPr>
                      </a:pPr>
                      <a:r>
                        <a:t>CatBoost (Default): 0.7473</a:t>
                      </a:r>
                    </a:p>
                    <a:p>
                      <a:pPr algn="l" defTabSz="457200">
                        <a:defRPr sz="1700">
                          <a:solidFill>
                            <a:srgbClr val="000000">
                              <a:alpha val="87059"/>
                            </a:srgbClr>
                          </a:solidFill>
                        </a:defRPr>
                      </a:pPr>
                      <a:r>
                        <a:t>FT-Transformer (Tuned): 0.7256</a:t>
                      </a:r>
                    </a:p>
                    <a:p>
                      <a:pPr algn="l" defTabSz="457200">
                        <a:defRPr sz="1700">
                          <a:solidFill>
                            <a:srgbClr val="000000">
                              <a:alpha val="87059"/>
                            </a:srgbClr>
                          </a:solidFill>
                        </a:defRPr>
                      </a:pPr>
                      <a:r>
                        <a:t>Wide &amp; Deep (Tuned): 0.7253</a:t>
                      </a:r>
                    </a:p>
                    <a:p>
                      <a:pPr algn="l" defTabSz="457200">
                        <a:defRPr sz="1700">
                          <a:solidFill>
                            <a:srgbClr val="000000">
                              <a:alpha val="87059"/>
                            </a:srgbClr>
                          </a:solidFill>
                        </a:defRPr>
                      </a:pPr>
                      <a:r>
                        <a:t>Linear Regresyon (Default): 0.7120</a:t>
                      </a:r>
                    </a:p>
                    <a:p>
                      <a:pPr algn="l" defTabSz="457200">
                        <a:defRPr sz="1700">
                          <a:solidFill>
                            <a:srgbClr val="000000">
                              <a:alpha val="87059"/>
                            </a:srgbClr>
                          </a:solidFill>
                        </a:defRPr>
                      </a:pPr>
                      <a:r>
                        <a:t>SGD (Base): 0.7110</a:t>
                      </a:r>
                    </a:p>
                    <a:p>
                      <a:pPr algn="l" defTabSz="457200">
                        <a:defRPr sz="1700">
                          <a:solidFill>
                            <a:srgbClr val="000000">
                              <a:alpha val="87059"/>
                            </a:srgbClr>
                          </a:solidFill>
                        </a:defRPr>
                      </a:pPr>
                      <a:r>
                        <a:t>DT (Base): 0.6861</a:t>
                      </a:r>
                    </a:p>
                    <a:p>
                      <a:pPr algn="l" defTabSz="457200">
                        <a:defRPr sz="1700">
                          <a:solidFill>
                            <a:srgbClr val="000000">
                              <a:alpha val="87059"/>
                            </a:srgbClr>
                          </a:solidFill>
                        </a:defRPr>
                      </a:pPr>
                      <a:r>
                        <a:t>KNN (Base): 0.680881</a:t>
                      </a:r>
                    </a:p>
                    <a:p>
                      <a:pPr algn="l" defTabSz="457200">
                        <a:defRPr sz="1700">
                          <a:solidFill>
                            <a:srgbClr val="000000">
                              <a:alpha val="87059"/>
                            </a:srgbClr>
                          </a:solidFill>
                        </a:defRPr>
                      </a:pPr>
                      <a:r>
                        <a:t>AdaBoost (Default): 0.6733</a:t>
                      </a:r>
                    </a:p>
                    <a:p>
                      <a:pPr algn="l" defTabSz="457200">
                        <a:defRPr sz="1700">
                          <a:solidFill>
                            <a:srgbClr val="000000">
                              <a:alpha val="87059"/>
                            </a:srgbClr>
                          </a:solidFill>
                        </a:defRPr>
                      </a:pPr>
                      <a:r>
                        <a:t>SGD (Weighted): 0.6714</a:t>
                      </a:r>
                    </a:p>
                    <a:p>
                      <a:pPr algn="l" defTabSz="457200">
                        <a:defRPr sz="1700">
                          <a:solidFill>
                            <a:srgbClr val="000000">
                              <a:alpha val="87059"/>
                            </a:srgbClr>
                          </a:solidFill>
                        </a:defRPr>
                      </a:pPr>
                      <a:r>
                        <a:t>Naive Bayes (Base): 0.6547</a:t>
                      </a:r>
                    </a:p>
                  </a:txBody>
                  <a:tcPr marL="50800" marR="50800" marT="50800" marB="50800" anchor="ctr" anchorCtr="0" horzOverflow="overflow"/>
                </a:tc>
                <a:tc>
                  <a:txBody>
                    <a:bodyPr/>
                    <a:lstStyle/>
                    <a:p>
                      <a:pPr algn="l" defTabSz="457200">
                        <a:defRPr sz="1700">
                          <a:solidFill>
                            <a:srgbClr val="000000">
                              <a:alpha val="87059"/>
                            </a:srgbClr>
                          </a:solidFill>
                        </a:defRPr>
                      </a:pPr>
                      <a:r>
                        <a:t>HistGradientBoosting_Tuned (Tuned): 0.966960</a:t>
                      </a:r>
                    </a:p>
                    <a:p>
                      <a:pPr algn="l" defTabSz="457200">
                        <a:defRPr sz="1700">
                          <a:solidFill>
                            <a:srgbClr val="000000">
                              <a:alpha val="87059"/>
                            </a:srgbClr>
                          </a:solidFill>
                        </a:defRPr>
                      </a:pPr>
                      <a:r>
                        <a:t>HistGradientBoosting (Default): 0.966469</a:t>
                      </a:r>
                    </a:p>
                    <a:p>
                      <a:pPr algn="l" defTabSz="457200">
                        <a:defRPr sz="1700">
                          <a:solidFill>
                            <a:srgbClr val="000000">
                              <a:alpha val="87059"/>
                            </a:srgbClr>
                          </a:solidFill>
                        </a:defRPr>
                      </a:pPr>
                      <a:r>
                        <a:t>LogisticRegression (Base): 0.965323</a:t>
                      </a:r>
                    </a:p>
                    <a:p>
                      <a:pPr algn="l" defTabSz="457200">
                        <a:defRPr sz="1700">
                          <a:solidFill>
                            <a:srgbClr val="000000">
                              <a:alpha val="87059"/>
                            </a:srgbClr>
                          </a:solidFill>
                        </a:defRPr>
                      </a:pPr>
                      <a:r>
                        <a:t>BaggingClassifier (Default): 0.944520</a:t>
                      </a:r>
                    </a:p>
                    <a:p>
                      <a:pPr algn="l" defTabSz="457200">
                        <a:defRPr sz="1700">
                          <a:solidFill>
                            <a:srgbClr val="000000">
                              <a:alpha val="87059"/>
                            </a:srgbClr>
                          </a:solidFill>
                        </a:defRPr>
                      </a:pPr>
                      <a:r>
                        <a:t>BaggingClassifier_Tuned (Tuned): 0.935171</a:t>
                      </a:r>
                    </a:p>
                    <a:p>
                      <a:pPr algn="l" defTabSz="457200">
                        <a:defRPr sz="1700">
                          <a:solidFill>
                            <a:srgbClr val="000000">
                              <a:alpha val="87059"/>
                            </a:srgbClr>
                          </a:solidFill>
                        </a:defRPr>
                      </a:pPr>
                      <a:r>
                        <a:t>Gradient Boosting (Tuned): 0.8756</a:t>
                      </a:r>
                    </a:p>
                    <a:p>
                      <a:pPr algn="l" defTabSz="457200">
                        <a:defRPr sz="1700">
                          <a:solidFill>
                            <a:srgbClr val="000000">
                              <a:alpha val="87059"/>
                            </a:srgbClr>
                          </a:solidFill>
                        </a:defRPr>
                      </a:pPr>
                      <a:r>
                        <a:t>MLP C. (Default): 0.8733</a:t>
                      </a:r>
                    </a:p>
                    <a:p>
                      <a:pPr algn="l" defTabSz="457200">
                        <a:defRPr sz="1700">
                          <a:solidFill>
                            <a:srgbClr val="000000">
                              <a:alpha val="87059"/>
                            </a:srgbClr>
                          </a:solidFill>
                        </a:defRPr>
                      </a:pPr>
                      <a:r>
                        <a:t>CatBoost (Default): 0.8719</a:t>
                      </a:r>
                    </a:p>
                    <a:p>
                      <a:pPr algn="l" defTabSz="457200">
                        <a:defRPr sz="1700">
                          <a:solidFill>
                            <a:srgbClr val="000000">
                              <a:alpha val="87059"/>
                            </a:srgbClr>
                          </a:solidFill>
                        </a:defRPr>
                      </a:pPr>
                      <a:r>
                        <a:t>ExtraTrees (Tuned): 0.8689</a:t>
                      </a:r>
                    </a:p>
                    <a:p>
                      <a:pPr algn="l" defTabSz="457200">
                        <a:defRPr sz="1700">
                          <a:solidFill>
                            <a:srgbClr val="000000">
                              <a:alpha val="87059"/>
                            </a:srgbClr>
                          </a:solidFill>
                        </a:defRPr>
                      </a:pPr>
                      <a:r>
                        <a:t>FT-Transformer (Tuned): 0.8536</a:t>
                      </a:r>
                    </a:p>
                    <a:p>
                      <a:pPr algn="l" defTabSz="457200">
                        <a:defRPr sz="1700">
                          <a:solidFill>
                            <a:srgbClr val="000000">
                              <a:alpha val="87059"/>
                            </a:srgbClr>
                          </a:solidFill>
                        </a:defRPr>
                      </a:pPr>
                      <a:r>
                        <a:t>Wide &amp; Deep (Tuned): 0.8479</a:t>
                      </a:r>
                    </a:p>
                    <a:p>
                      <a:pPr algn="l" defTabSz="457200">
                        <a:defRPr sz="1700">
                          <a:solidFill>
                            <a:srgbClr val="000000">
                              <a:alpha val="87059"/>
                            </a:srgbClr>
                          </a:solidFill>
                        </a:defRPr>
                      </a:pPr>
                      <a:r>
                        <a:t>Linear Regresyon (Default): 0.8327</a:t>
                      </a:r>
                    </a:p>
                    <a:p>
                      <a:pPr algn="l" defTabSz="457200">
                        <a:defRPr sz="1700">
                          <a:solidFill>
                            <a:srgbClr val="000000">
                              <a:alpha val="87059"/>
                            </a:srgbClr>
                          </a:solidFill>
                        </a:defRPr>
                      </a:pPr>
                      <a:r>
                        <a:t>AdaBoost (Default): 0.8268</a:t>
                      </a:r>
                    </a:p>
                    <a:p>
                      <a:pPr algn="l" defTabSz="457200">
                        <a:defRPr sz="1700">
                          <a:solidFill>
                            <a:srgbClr val="000000">
                              <a:alpha val="87059"/>
                            </a:srgbClr>
                          </a:solidFill>
                        </a:defRPr>
                      </a:pPr>
                      <a:r>
                        <a:t>SGD (Base): 0.8078</a:t>
                      </a:r>
                    </a:p>
                    <a:p>
                      <a:pPr algn="l" defTabSz="457200">
                        <a:defRPr sz="1700">
                          <a:solidFill>
                            <a:srgbClr val="000000">
                              <a:alpha val="87059"/>
                            </a:srgbClr>
                          </a:solidFill>
                        </a:defRPr>
                      </a:pPr>
                      <a:r>
                        <a:t>SGD (Weighted): 0.7994</a:t>
                      </a:r>
                    </a:p>
                    <a:p>
                      <a:pPr algn="l" defTabSz="457200">
                        <a:defRPr sz="1700">
                          <a:solidFill>
                            <a:srgbClr val="000000">
                              <a:alpha val="87059"/>
                            </a:srgbClr>
                          </a:solidFill>
                        </a:defRPr>
                      </a:pPr>
                      <a:r>
                        <a:t>KNN (Base): 0.790757</a:t>
                      </a:r>
                    </a:p>
                    <a:p>
                      <a:pPr algn="l" defTabSz="457200">
                        <a:defRPr sz="1700">
                          <a:solidFill>
                            <a:srgbClr val="000000">
                              <a:alpha val="87059"/>
                            </a:srgbClr>
                          </a:solidFill>
                        </a:defRPr>
                      </a:pPr>
                      <a:r>
                        <a:t>Naive Bayes (Base): 0.7543</a:t>
                      </a:r>
                    </a:p>
                    <a:p>
                      <a:pPr algn="l" defTabSz="457200">
                        <a:defRPr sz="1700">
                          <a:solidFill>
                            <a:srgbClr val="000000">
                              <a:alpha val="87059"/>
                            </a:srgbClr>
                          </a:solidFill>
                        </a:defRPr>
                      </a:pPr>
                      <a:r>
                        <a:t>DT (Base): 0.7315</a:t>
                      </a:r>
                    </a:p>
                  </a:txBody>
                  <a:tcPr marL="50800" marR="50800" marT="50800" marB="50800" anchor="ctr" anchorCtr="0" horzOverflow="overflow"/>
                </a:tc>
                <a:tc>
                  <a:txBody>
                    <a:bodyPr/>
                    <a:lstStyle/>
                    <a:p>
                      <a:pPr algn="l" defTabSz="457200">
                        <a:defRPr sz="1700">
                          <a:solidFill>
                            <a:srgbClr val="000000">
                              <a:alpha val="87059"/>
                            </a:srgbClr>
                          </a:solidFill>
                        </a:defRPr>
                      </a:pPr>
                      <a:r>
                        <a:t>LogisticRegression (Base): 0.966978</a:t>
                      </a:r>
                    </a:p>
                    <a:p>
                      <a:pPr algn="l" defTabSz="457200">
                        <a:defRPr sz="1700">
                          <a:solidFill>
                            <a:srgbClr val="000000">
                              <a:alpha val="87059"/>
                            </a:srgbClr>
                          </a:solidFill>
                        </a:defRPr>
                      </a:pPr>
                      <a:r>
                        <a:t>HistGradientBoosting_Tuned (Tuned): 0.966786</a:t>
                      </a:r>
                    </a:p>
                    <a:p>
                      <a:pPr algn="l" defTabSz="457200">
                        <a:defRPr sz="1700">
                          <a:solidFill>
                            <a:srgbClr val="000000">
                              <a:alpha val="87059"/>
                            </a:srgbClr>
                          </a:solidFill>
                        </a:defRPr>
                      </a:pPr>
                      <a:r>
                        <a:t>HistGradientBoosting (Default): 0.965907</a:t>
                      </a:r>
                    </a:p>
                    <a:p>
                      <a:pPr algn="l" defTabSz="457200">
                        <a:defRPr sz="1700">
                          <a:solidFill>
                            <a:srgbClr val="000000">
                              <a:alpha val="87059"/>
                            </a:srgbClr>
                          </a:solidFill>
                        </a:defRPr>
                      </a:pPr>
                      <a:r>
                        <a:t>BaggingClassifier_Tuned (Tuned): 0.935171</a:t>
                      </a:r>
                    </a:p>
                    <a:p>
                      <a:pPr algn="l" defTabSz="457200">
                        <a:defRPr sz="1700">
                          <a:solidFill>
                            <a:srgbClr val="000000">
                              <a:alpha val="87059"/>
                            </a:srgbClr>
                          </a:solidFill>
                        </a:defRPr>
                      </a:pPr>
                      <a:r>
                        <a:t>BaggingClassifier (Default): 0.923127</a:t>
                      </a:r>
                    </a:p>
                    <a:p>
                      <a:pPr algn="l" defTabSz="457200">
                        <a:defRPr sz="1700">
                          <a:solidFill>
                            <a:srgbClr val="000000">
                              <a:alpha val="87059"/>
                            </a:srgbClr>
                          </a:solidFill>
                        </a:defRPr>
                      </a:pPr>
                      <a:r>
                        <a:t>FT-Transformer (Tuned): 0.8239</a:t>
                      </a:r>
                    </a:p>
                    <a:p>
                      <a:pPr algn="l" defTabSz="457200">
                        <a:defRPr sz="1700">
                          <a:solidFill>
                            <a:srgbClr val="000000">
                              <a:alpha val="87059"/>
                            </a:srgbClr>
                          </a:solidFill>
                        </a:defRPr>
                      </a:pPr>
                      <a:r>
                        <a:t>Wide &amp; Deep (Tuned): 0.8160</a:t>
                      </a:r>
                    </a:p>
                    <a:p>
                      <a:pPr algn="l" defTabSz="457200">
                        <a:defRPr sz="1700">
                          <a:solidFill>
                            <a:srgbClr val="000000">
                              <a:alpha val="87059"/>
                            </a:srgbClr>
                          </a:solidFill>
                        </a:defRPr>
                      </a:pPr>
                      <a:r>
                        <a:t>Gradient Boosting (Tuned): 0.8085</a:t>
                      </a:r>
                    </a:p>
                    <a:p>
                      <a:pPr algn="l" defTabSz="457200">
                        <a:defRPr sz="1700">
                          <a:solidFill>
                            <a:srgbClr val="000000">
                              <a:alpha val="87059"/>
                            </a:srgbClr>
                          </a:solidFill>
                        </a:defRPr>
                      </a:pPr>
                      <a:r>
                        <a:t>MLP C.(Defaul): 0.8061</a:t>
                      </a:r>
                    </a:p>
                    <a:p>
                      <a:pPr algn="l" defTabSz="457200">
                        <a:defRPr sz="1700">
                          <a:solidFill>
                            <a:srgbClr val="000000">
                              <a:alpha val="87059"/>
                            </a:srgbClr>
                          </a:solidFill>
                        </a:defRPr>
                      </a:pPr>
                      <a:r>
                        <a:t>ExtraTrees (Tuned): 0.8051</a:t>
                      </a:r>
                    </a:p>
                    <a:p>
                      <a:pPr algn="l" defTabSz="457200">
                        <a:defRPr sz="1700">
                          <a:solidFill>
                            <a:srgbClr val="000000">
                              <a:alpha val="87059"/>
                            </a:srgbClr>
                          </a:solidFill>
                        </a:defRPr>
                      </a:pPr>
                      <a:r>
                        <a:t>CatBoost (Default): 0.8474</a:t>
                      </a:r>
                    </a:p>
                    <a:p>
                      <a:pPr algn="l" defTabSz="457200">
                        <a:defRPr sz="1700">
                          <a:solidFill>
                            <a:srgbClr val="000000">
                              <a:alpha val="87059"/>
                            </a:srgbClr>
                          </a:solidFill>
                        </a:defRPr>
                      </a:pPr>
                      <a:r>
                        <a:t>Linear Regresyon (Default): 0.7763</a:t>
                      </a:r>
                    </a:p>
                    <a:p>
                      <a:pPr algn="l" defTabSz="457200">
                        <a:defRPr sz="1700">
                          <a:solidFill>
                            <a:srgbClr val="000000">
                              <a:alpha val="87059"/>
                            </a:srgbClr>
                          </a:solidFill>
                        </a:defRPr>
                      </a:pPr>
                      <a:r>
                        <a:t>AdaBoost (Default): 0.7775</a:t>
                      </a:r>
                    </a:p>
                    <a:p>
                      <a:pPr algn="l" defTabSz="457200">
                        <a:defRPr sz="1700">
                          <a:solidFill>
                            <a:srgbClr val="000000">
                              <a:alpha val="87059"/>
                            </a:srgbClr>
                          </a:solidFill>
                        </a:defRPr>
                      </a:pPr>
                      <a:r>
                        <a:t>SGD (Base): 0.7435</a:t>
                      </a:r>
                    </a:p>
                    <a:p>
                      <a:pPr algn="l" defTabSz="457200">
                        <a:defRPr sz="1700">
                          <a:solidFill>
                            <a:srgbClr val="000000">
                              <a:alpha val="87059"/>
                            </a:srgbClr>
                          </a:solidFill>
                        </a:defRPr>
                      </a:pPr>
                      <a:r>
                        <a:t>SGD (Weighted): 0.7487</a:t>
                      </a:r>
                    </a:p>
                    <a:p>
                      <a:pPr algn="l" defTabSz="457200">
                        <a:defRPr sz="1700">
                          <a:solidFill>
                            <a:srgbClr val="000000">
                              <a:alpha val="87059"/>
                            </a:srgbClr>
                          </a:solidFill>
                        </a:defRPr>
                      </a:pPr>
                      <a:r>
                        <a:t>KNN (Base): 0.737246</a:t>
                      </a:r>
                    </a:p>
                    <a:p>
                      <a:pPr algn="l" defTabSz="457200">
                        <a:defRPr sz="1700">
                          <a:solidFill>
                            <a:srgbClr val="000000">
                              <a:alpha val="87059"/>
                            </a:srgbClr>
                          </a:solidFill>
                        </a:defRPr>
                      </a:pPr>
                      <a:r>
                        <a:t>Naive Bayes (Base): 0.7030</a:t>
                      </a:r>
                    </a:p>
                    <a:p>
                      <a:pPr algn="l" defTabSz="457200">
                        <a:defRPr sz="1700">
                          <a:solidFill>
                            <a:srgbClr val="000000">
                              <a:alpha val="87059"/>
                            </a:srgbClr>
                          </a:solidFill>
                        </a:defRPr>
                      </a:pPr>
                      <a:r>
                        <a:t>DT (Base): 0.6062</a:t>
                      </a:r>
                    </a:p>
                  </a:txBody>
                  <a:tcPr marL="50800" marR="50800" marT="50800" marB="50800" anchor="ctr" anchorCtr="0" horzOverflow="overflow"/>
                </a:tc>
                <a:tc>
                  <a:txBody>
                    <a:bodyPr/>
                    <a:lstStyle/>
                    <a:p>
                      <a:pPr algn="l" defTabSz="457200">
                        <a:defRPr sz="1700">
                          <a:solidFill>
                            <a:srgbClr val="000000">
                              <a:alpha val="87059"/>
                            </a:srgbClr>
                          </a:solidFill>
                        </a:defRPr>
                      </a:pPr>
                      <a:r>
                        <a:t>LogisticRegression (Base): 0.078830</a:t>
                      </a:r>
                    </a:p>
                    <a:p>
                      <a:pPr algn="l" defTabSz="457200">
                        <a:defRPr sz="1700">
                          <a:solidFill>
                            <a:srgbClr val="000000">
                              <a:alpha val="87059"/>
                            </a:srgbClr>
                          </a:solidFill>
                        </a:defRPr>
                      </a:pPr>
                      <a:r>
                        <a:t>BaggingClassifier (Default): 0.109590</a:t>
                      </a:r>
                    </a:p>
                    <a:p>
                      <a:pPr algn="l" defTabSz="457200">
                        <a:defRPr sz="1700">
                          <a:solidFill>
                            <a:srgbClr val="000000">
                              <a:alpha val="87059"/>
                            </a:srgbClr>
                          </a:solidFill>
                        </a:defRPr>
                      </a:pPr>
                      <a:r>
                        <a:t>BaggingClassifier_Tuned (Tuned): 0.114560</a:t>
                      </a:r>
                    </a:p>
                    <a:p>
                      <a:pPr algn="l" defTabSz="457200">
                        <a:defRPr sz="1700">
                          <a:solidFill>
                            <a:srgbClr val="000000">
                              <a:alpha val="87059"/>
                            </a:srgbClr>
                          </a:solidFill>
                        </a:defRPr>
                      </a:pPr>
                      <a:r>
                        <a:t>HistGradientBoosting (Default): 0.125071</a:t>
                      </a:r>
                    </a:p>
                    <a:p>
                      <a:pPr algn="l" defTabSz="457200">
                        <a:defRPr sz="1700">
                          <a:solidFill>
                            <a:srgbClr val="000000">
                              <a:alpha val="87059"/>
                            </a:srgbClr>
                          </a:solidFill>
                        </a:defRPr>
                      </a:pPr>
                      <a:r>
                        <a:t>HistGradientBoosting_Tuned (Tuned): 0.126685</a:t>
                      </a:r>
                    </a:p>
                    <a:p>
                      <a:pPr algn="l" defTabSz="457200">
                        <a:defRPr sz="1700">
                          <a:solidFill>
                            <a:srgbClr val="000000">
                              <a:alpha val="87059"/>
                            </a:srgbClr>
                          </a:solidFill>
                        </a:defRPr>
                      </a:pPr>
                      <a:r>
                        <a:t>Gradient Boosting (Tuned): 0.1364</a:t>
                      </a:r>
                    </a:p>
                    <a:p>
                      <a:pPr algn="l" defTabSz="457200">
                        <a:defRPr sz="1700">
                          <a:solidFill>
                            <a:srgbClr val="000000">
                              <a:alpha val="87059"/>
                            </a:srgbClr>
                          </a:solidFill>
                        </a:defRPr>
                      </a:pPr>
                      <a:r>
                        <a:t>MLP C.(Defaul): 0.1378</a:t>
                      </a:r>
                    </a:p>
                    <a:p>
                      <a:pPr algn="l" defTabSz="457200">
                        <a:defRPr sz="1700">
                          <a:solidFill>
                            <a:srgbClr val="000000">
                              <a:alpha val="87059"/>
                            </a:srgbClr>
                          </a:solidFill>
                        </a:defRPr>
                      </a:pPr>
                      <a:r>
                        <a:t>ExtraTrees (Tuned): 0.1409</a:t>
                      </a:r>
                    </a:p>
                    <a:p>
                      <a:pPr algn="l" defTabSz="457200">
                        <a:defRPr sz="1700">
                          <a:solidFill>
                            <a:srgbClr val="000000">
                              <a:alpha val="87059"/>
                            </a:srgbClr>
                          </a:solidFill>
                        </a:defRPr>
                      </a:pPr>
                      <a:r>
                        <a:t>CatBoost (Default): 0.1410</a:t>
                      </a:r>
                    </a:p>
                    <a:p>
                      <a:pPr algn="l" defTabSz="457200">
                        <a:defRPr sz="1700">
                          <a:solidFill>
                            <a:srgbClr val="000000">
                              <a:alpha val="87059"/>
                            </a:srgbClr>
                          </a:solidFill>
                        </a:defRPr>
                      </a:pPr>
                      <a:r>
                        <a:t>FT-Transformer (Tuned): 0.1505</a:t>
                      </a:r>
                    </a:p>
                    <a:p>
                      <a:pPr algn="l" defTabSz="457200">
                        <a:defRPr sz="1700">
                          <a:solidFill>
                            <a:srgbClr val="000000">
                              <a:alpha val="87059"/>
                            </a:srgbClr>
                          </a:solidFill>
                        </a:defRPr>
                      </a:pPr>
                      <a:r>
                        <a:t>Wide &amp; Deep (Tuned): 0.1533</a:t>
                      </a:r>
                    </a:p>
                    <a:p>
                      <a:pPr algn="l" defTabSz="457200">
                        <a:defRPr sz="1700">
                          <a:solidFill>
                            <a:srgbClr val="000000">
                              <a:alpha val="87059"/>
                            </a:srgbClr>
                          </a:solidFill>
                        </a:defRPr>
                      </a:pPr>
                      <a:r>
                        <a:t>Linear Regresyon (Default): 0.1605</a:t>
                      </a:r>
                    </a:p>
                    <a:p>
                      <a:pPr algn="l" defTabSz="457200">
                        <a:defRPr sz="1700">
                          <a:solidFill>
                            <a:srgbClr val="000000">
                              <a:alpha val="87059"/>
                            </a:srgbClr>
                          </a:solidFill>
                        </a:defRPr>
                      </a:pPr>
                      <a:r>
                        <a:t>SGD (Base): 0.1774</a:t>
                      </a:r>
                    </a:p>
                    <a:p>
                      <a:pPr algn="l" defTabSz="457200">
                        <a:defRPr sz="1700">
                          <a:solidFill>
                            <a:srgbClr val="000000">
                              <a:alpha val="87059"/>
                            </a:srgbClr>
                          </a:solidFill>
                        </a:defRPr>
                      </a:pPr>
                      <a:r>
                        <a:t>SGD (Weighted): 0.1786</a:t>
                      </a:r>
                    </a:p>
                    <a:p>
                      <a:pPr algn="l" defTabSz="457200">
                        <a:defRPr sz="1700">
                          <a:solidFill>
                            <a:srgbClr val="000000">
                              <a:alpha val="87059"/>
                            </a:srgbClr>
                          </a:solidFill>
                        </a:defRPr>
                      </a:pPr>
                      <a:r>
                        <a:t>KNN (Base): 0.187786</a:t>
                      </a:r>
                    </a:p>
                    <a:p>
                      <a:pPr algn="l" defTabSz="457200">
                        <a:defRPr sz="1700">
                          <a:solidFill>
                            <a:srgbClr val="000000">
                              <a:alpha val="87059"/>
                            </a:srgbClr>
                          </a:solidFill>
                        </a:defRPr>
                      </a:pPr>
                      <a:r>
                        <a:t>AdaBoost (Default): 0.2044</a:t>
                      </a:r>
                    </a:p>
                    <a:p>
                      <a:pPr algn="l" defTabSz="457200">
                        <a:defRPr sz="1700">
                          <a:solidFill>
                            <a:srgbClr val="000000">
                              <a:alpha val="87059"/>
                            </a:srgbClr>
                          </a:solidFill>
                        </a:defRPr>
                      </a:pPr>
                      <a:r>
                        <a:t>Naive Bayes (Base): 0.2366</a:t>
                      </a:r>
                    </a:p>
                    <a:p>
                      <a:pPr algn="l" defTabSz="457200">
                        <a:defRPr sz="1700">
                          <a:solidFill>
                            <a:srgbClr val="000000">
                              <a:alpha val="87059"/>
                            </a:srgbClr>
                          </a:solidFill>
                        </a:defRPr>
                      </a:pPr>
                      <a:r>
                        <a:t>DT (Base): 0.2613</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onuç ve Değerlendirme"/>
          <p:cNvSpPr txBox="1"/>
          <p:nvPr>
            <p:ph type="body" idx="21"/>
          </p:nvPr>
        </p:nvSpPr>
        <p:spPr>
          <a:xfrm>
            <a:off x="1206500" y="978255"/>
            <a:ext cx="21971000" cy="1003301"/>
          </a:xfrm>
          <a:prstGeom prst="rect">
            <a:avLst/>
          </a:prstGeom>
          <a:extLst>
            <a:ext uri="{C572A759-6A51-4108-AA02-DFA0A04FC94B}">
              <ma14:wrappingTextBoxFlag xmlns:ma14="http://schemas.microsoft.com/office/mac/drawingml/2011/main" val="1"/>
            </a:ext>
          </a:extLst>
        </p:spPr>
        <p:txBody>
          <a:bodyPr/>
          <a:lstStyle/>
          <a:p>
            <a:pPr/>
            <a:r>
              <a:t>Sonuç ve Değerlendirme</a:t>
            </a:r>
          </a:p>
        </p:txBody>
      </p:sp>
      <p:sp>
        <p:nvSpPr>
          <p:cNvPr id="219" name="HistGradientBoosting (özellikle Tuned) modelleri, hem Grip Yok (0) hem Grip Var (1) sınıflarında en yüksek ROC AUC ve PR AUC değerlerini elde etmiştir.…"/>
          <p:cNvSpPr txBox="1"/>
          <p:nvPr>
            <p:ph type="body" idx="1"/>
          </p:nvPr>
        </p:nvSpPr>
        <p:spPr>
          <a:xfrm>
            <a:off x="1206500" y="3601673"/>
            <a:ext cx="21971000" cy="8902843"/>
          </a:xfrm>
          <a:prstGeom prst="rect">
            <a:avLst/>
          </a:prstGeom>
        </p:spPr>
        <p:txBody>
          <a:bodyPr/>
          <a:lstStyle/>
          <a:p>
            <a:pPr marL="324611" indent="-324611" defTabSz="324611">
              <a:spcBef>
                <a:spcPts val="800"/>
              </a:spcBef>
              <a:defRPr sz="2840">
                <a:latin typeface="Times Roman"/>
                <a:ea typeface="Times Roman"/>
                <a:cs typeface="Times Roman"/>
                <a:sym typeface="Times Roman"/>
              </a:defRPr>
            </a:pPr>
            <a:r>
              <a:t>HistGradientBoosting (özellikle Tuned) modelleri, hem Grip Yok (0) hem Grip Var (1) sınıflarında en yüksek ROC AUC ve PR AUC değerlerini elde etmiştir.</a:t>
            </a:r>
          </a:p>
          <a:p>
            <a:pPr lvl="1" marL="649223" indent="-324611" defTabSz="324611">
              <a:spcBef>
                <a:spcPts val="800"/>
              </a:spcBef>
              <a:defRPr sz="2840">
                <a:latin typeface="Times Roman"/>
                <a:ea typeface="Times Roman"/>
                <a:cs typeface="Times Roman"/>
                <a:sym typeface="Times Roman"/>
              </a:defRPr>
            </a:pPr>
            <a:r>
              <a:t>Bunun nedeni, doğrusal olmayan ilişkileri ve karmaşık örüntüleri güçlü şekilde modelleyebilmesidir.</a:t>
            </a:r>
          </a:p>
          <a:p>
            <a:pPr marL="324611" indent="-324611" defTabSz="324611">
              <a:spcBef>
                <a:spcPts val="800"/>
              </a:spcBef>
              <a:defRPr sz="2840">
                <a:latin typeface="Times Roman"/>
                <a:ea typeface="Times Roman"/>
                <a:cs typeface="Times Roman"/>
                <a:sym typeface="Times Roman"/>
              </a:defRPr>
            </a:pPr>
            <a:r>
              <a:t>BaggingClassifier (Tuned) modeli, F1 Score ve ROC AUC metriklerinde üst sıralarda yer alarak genel olarak en dengeli modellerden biri olmuştur.</a:t>
            </a:r>
          </a:p>
          <a:p>
            <a:pPr lvl="1" marL="649223" indent="-324611" defTabSz="324611">
              <a:spcBef>
                <a:spcPts val="800"/>
              </a:spcBef>
              <a:defRPr sz="2840">
                <a:latin typeface="Times Roman"/>
                <a:ea typeface="Times Roman"/>
                <a:cs typeface="Times Roman"/>
                <a:sym typeface="Times Roman"/>
              </a:defRPr>
            </a:pPr>
            <a:r>
              <a:t>Birden fazla ağacın birleşimi, model varyansını azaltmış ve stabil sonuçlar üretmiştir.</a:t>
            </a:r>
          </a:p>
          <a:p>
            <a:pPr marL="324611" indent="-324611" defTabSz="324611">
              <a:spcBef>
                <a:spcPts val="800"/>
              </a:spcBef>
              <a:defRPr sz="2840">
                <a:latin typeface="Times Roman"/>
                <a:ea typeface="Times Roman"/>
                <a:cs typeface="Times Roman"/>
                <a:sym typeface="Times Roman"/>
              </a:defRPr>
            </a:pPr>
            <a:r>
              <a:t>Hiperparametre optimizasyonu (Tuned) uygulanan modeller, çoğu durumda varsayılan (Default) modellere kıyasla daha yüksek ayırt edicilik sağlamıştır.</a:t>
            </a:r>
          </a:p>
          <a:p>
            <a:pPr lvl="1" marL="649223" indent="-324611" defTabSz="324611">
              <a:spcBef>
                <a:spcPts val="800"/>
              </a:spcBef>
              <a:defRPr sz="2840">
                <a:latin typeface="Times Roman"/>
                <a:ea typeface="Times Roman"/>
                <a:cs typeface="Times Roman"/>
                <a:sym typeface="Times Roman"/>
              </a:defRPr>
            </a:pPr>
            <a:r>
              <a:t>Özellikle ROC AUC ve PR AUC değerlerinde belirgin artış gözlenmiştir.</a:t>
            </a:r>
          </a:p>
          <a:p>
            <a:pPr marL="324611" indent="-324611" defTabSz="324611">
              <a:spcBef>
                <a:spcPts val="800"/>
              </a:spcBef>
              <a:defRPr sz="2840">
                <a:latin typeface="Times Roman"/>
                <a:ea typeface="Times Roman"/>
                <a:cs typeface="Times Roman"/>
                <a:sym typeface="Times Roman"/>
              </a:defRPr>
            </a:pPr>
            <a:r>
              <a:t>Logistic Regression, ensemble modellere kıyasla daha basit olmasına rağmen en düşük IBS (Brier Score) değerini üretmiştir.</a:t>
            </a:r>
          </a:p>
          <a:p>
            <a:pPr lvl="1" marL="649223" indent="-324611" defTabSz="324611">
              <a:spcBef>
                <a:spcPts val="800"/>
              </a:spcBef>
              <a:defRPr sz="2840">
                <a:latin typeface="Times Roman"/>
                <a:ea typeface="Times Roman"/>
                <a:cs typeface="Times Roman"/>
                <a:sym typeface="Times Roman"/>
              </a:defRPr>
            </a:pPr>
            <a:r>
              <a:t>Bu durum, modelin olasılık tahminlerinin daha iyi kalibre edildiğini göstermektedir.</a:t>
            </a:r>
          </a:p>
          <a:p>
            <a:pPr marL="324611" indent="-324611" defTabSz="324611">
              <a:spcBef>
                <a:spcPts val="800"/>
              </a:spcBef>
              <a:defRPr sz="2840">
                <a:latin typeface="Times Roman"/>
                <a:ea typeface="Times Roman"/>
                <a:cs typeface="Times Roman"/>
                <a:sym typeface="Times Roman"/>
              </a:defRPr>
            </a:pPr>
            <a:r>
              <a:t>FT-Transformer, Wide &amp; Deep ve MLP gibi derin öğrenme tabanlı modeller, bazı metriklerde rekabetçi sonuçlar verse de ağaç tabanlı ensemble yöntemlerin gerisinde kalmıştır.</a:t>
            </a:r>
          </a:p>
          <a:p>
            <a:pPr lvl="1" marL="649223" indent="-324611" defTabSz="324611">
              <a:spcBef>
                <a:spcPts val="800"/>
              </a:spcBef>
              <a:defRPr sz="2840">
                <a:latin typeface="Times Roman"/>
                <a:ea typeface="Times Roman"/>
                <a:cs typeface="Times Roman"/>
                <a:sym typeface="Times Roman"/>
              </a:defRPr>
            </a:pPr>
            <a:r>
              <a:t>Tabular veri yapısı, ağaç tabanlı modellere daha uygun bulunmuştur.</a:t>
            </a:r>
          </a:p>
          <a:p>
            <a:pPr marL="324611" indent="-324611" defTabSz="324611">
              <a:spcBef>
                <a:spcPts val="800"/>
              </a:spcBef>
              <a:defRPr sz="2840">
                <a:latin typeface="Times Roman"/>
                <a:ea typeface="Times Roman"/>
                <a:cs typeface="Times Roman"/>
                <a:sym typeface="Times Roman"/>
              </a:defRPr>
            </a:pPr>
            <a:r>
              <a:t>KNN, Naive Bayes ve Decision Tree gibi daha basit modeller, tüm metriklerde daha düşük performans göstermiştir.</a:t>
            </a:r>
          </a:p>
          <a:p>
            <a:pPr lvl="1" marL="649223" indent="-324611" defTabSz="324611">
              <a:spcBef>
                <a:spcPts val="800"/>
              </a:spcBef>
              <a:defRPr sz="2840">
                <a:latin typeface="Times Roman"/>
                <a:ea typeface="Times Roman"/>
                <a:cs typeface="Times Roman"/>
                <a:sym typeface="Times Roman"/>
              </a:defRPr>
            </a:pPr>
            <a:r>
              <a:t>Bu modeller karmaşık sınıf sınırlarını yeterince yakalayamamıştır.</a:t>
            </a:r>
          </a:p>
          <a:p>
            <a:pPr marL="324611" indent="-324611" defTabSz="324611">
              <a:spcBef>
                <a:spcPts val="800"/>
              </a:spcBef>
              <a:defRPr sz="2840">
                <a:latin typeface="Times Roman"/>
                <a:ea typeface="Times Roman"/>
                <a:cs typeface="Times Roman"/>
                <a:sym typeface="Times Roman"/>
              </a:defRPr>
            </a:pPr>
            <a:r>
              <a:t>Genel olarak, ağaç tabanlı ensemble modeller, grip tahmini probleminde en başarılı yaklaşım olarak öne çıkmıştır</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Bizi dinlediğiniz için Teşekkür ederiz :)"/>
          <p:cNvSpPr txBox="1"/>
          <p:nvPr>
            <p:ph type="body" idx="21"/>
          </p:nvPr>
        </p:nvSpPr>
        <p:spPr>
          <a:xfrm>
            <a:off x="1206500" y="387661"/>
            <a:ext cx="21971000" cy="12292555"/>
          </a:xfrm>
          <a:prstGeom prst="rect">
            <a:avLst/>
          </a:prstGeom>
          <a:extLst>
            <a:ext uri="{C572A759-6A51-4108-AA02-DFA0A04FC94B}">
              <ma14:wrappingTextBoxFlag xmlns:ma14="http://schemas.microsoft.com/office/mac/drawingml/2011/main" val="1"/>
            </a:ext>
          </a:extLst>
        </p:spPr>
        <p:txBody>
          <a:bodyPr anchor="ctr"/>
          <a:lstStyle>
            <a:lvl1pPr>
              <a:defRPr spc="-59" sz="6000">
                <a:latin typeface="Produkt Regular"/>
                <a:ea typeface="Produkt Regular"/>
                <a:cs typeface="Produkt Regular"/>
                <a:sym typeface="Produkt Regular"/>
              </a:defRPr>
            </a:lvl1pPr>
          </a:lstStyle>
          <a:p>
            <a:pPr/>
            <a:r>
              <a:t>Bizi dinlediğiniz için Teşekkür ederiz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6_DynamicWavesLight">
  <a:themeElements>
    <a:clrScheme name="36_DynamicWaves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